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omments/modernComment_242_43B874D7.xml" ContentType="application/vnd.ms-powerpoint.comments+xml"/>
  <Override PartName="/ppt/comments/modernComment_241_6CC563E4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27" r:id="rId3"/>
    <p:sldId id="569" r:id="rId4"/>
    <p:sldId id="578" r:id="rId5"/>
    <p:sldId id="579" r:id="rId6"/>
    <p:sldId id="576" r:id="rId7"/>
    <p:sldId id="580" r:id="rId8"/>
    <p:sldId id="581" r:id="rId9"/>
    <p:sldId id="582" r:id="rId10"/>
    <p:sldId id="577" r:id="rId11"/>
    <p:sldId id="583" r:id="rId12"/>
    <p:sldId id="4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C68945-2DFD-4A79-BC60-3BB9B5702E67}">
          <p14:sldIdLst>
            <p14:sldId id="256"/>
            <p14:sldId id="427"/>
          </p14:sldIdLst>
        </p14:section>
        <p14:section name="Untitled Section" id="{56FE5CFA-219D-4B8E-8B5F-1FF7F380FDA2}">
          <p14:sldIdLst>
            <p14:sldId id="569"/>
            <p14:sldId id="578"/>
            <p14:sldId id="579"/>
            <p14:sldId id="576"/>
            <p14:sldId id="580"/>
            <p14:sldId id="581"/>
            <p14:sldId id="582"/>
            <p14:sldId id="577"/>
            <p14:sldId id="583"/>
            <p14:sldId id="4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A0E90E-3EF0-8755-F947-09AF9A56840C}" name="Ryu, Kyeong Rok" initials="KR" userId="S::kyeongrok.ryu@uta.edu::1edccbe7-5f92-4a47-8e0f-311eabb16be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7035"/>
    <a:srgbClr val="DC4034"/>
    <a:srgbClr val="BB5555"/>
    <a:srgbClr val="FADDCA"/>
    <a:srgbClr val="8E96AA"/>
    <a:srgbClr val="5F729F"/>
    <a:srgbClr val="DBE2F7"/>
    <a:srgbClr val="0064AF"/>
    <a:srgbClr val="516188"/>
    <a:srgbClr val="6B8D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38" y="9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wdhury, Shah Salah Uddin" userId="7671e43b-3eec-41dc-974c-80e475ba5416" providerId="ADAL" clId="{A9A0EE27-8CA1-463D-8571-1B08FB99BFDA}"/>
    <pc:docChg chg="delSld modSld modSection">
      <pc:chgData name="Chowdhury, Shah Salah Uddin" userId="7671e43b-3eec-41dc-974c-80e475ba5416" providerId="ADAL" clId="{A9A0EE27-8CA1-463D-8571-1B08FB99BFDA}" dt="2026-04-27T01:18:46.586" v="8" actId="20577"/>
      <pc:docMkLst>
        <pc:docMk/>
      </pc:docMkLst>
      <pc:sldChg chg="modSp mod">
        <pc:chgData name="Chowdhury, Shah Salah Uddin" userId="7671e43b-3eec-41dc-974c-80e475ba5416" providerId="ADAL" clId="{A9A0EE27-8CA1-463D-8571-1B08FB99BFDA}" dt="2026-04-27T01:18:46.586" v="8" actId="20577"/>
        <pc:sldMkLst>
          <pc:docMk/>
          <pc:sldMk cId="3040760012" sldId="576"/>
        </pc:sldMkLst>
        <pc:spChg chg="mod">
          <ac:chgData name="Chowdhury, Shah Salah Uddin" userId="7671e43b-3eec-41dc-974c-80e475ba5416" providerId="ADAL" clId="{A9A0EE27-8CA1-463D-8571-1B08FB99BFDA}" dt="2026-04-27T01:18:46.586" v="8" actId="20577"/>
          <ac:spMkLst>
            <pc:docMk/>
            <pc:sldMk cId="3040760012" sldId="576"/>
            <ac:spMk id="37" creationId="{24BB80AE-0D32-60AD-E197-425E1240E9F5}"/>
          </ac:spMkLst>
        </pc:spChg>
      </pc:sldChg>
      <pc:sldChg chg="del">
        <pc:chgData name="Chowdhury, Shah Salah Uddin" userId="7671e43b-3eec-41dc-974c-80e475ba5416" providerId="ADAL" clId="{A9A0EE27-8CA1-463D-8571-1B08FB99BFDA}" dt="2026-04-27T01:18:27.711" v="0" actId="2696"/>
        <pc:sldMkLst>
          <pc:docMk/>
          <pc:sldMk cId="3131983024" sldId="584"/>
        </pc:sldMkLst>
      </pc:sldChg>
    </pc:docChg>
  </pc:docChgLst>
</pc:chgInfo>
</file>

<file path=ppt/comments/modernComment_241_6CC563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76191B-CD84-4FEC-B066-F3ECA18AC308}" authorId="{AAA0E90E-3EF0-8755-F947-09AF9A56840C}" created="2026-04-27T13:33:42.31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24875492" sldId="577"/>
      <ac:picMk id="5" creationId="{DE891D41-98E7-D5A5-843D-F034C5FD00B7}"/>
    </ac:deMkLst>
    <p188:txBody>
      <a:bodyPr/>
      <a:lstStyle/>
      <a:p>
        <a:r>
          <a:rPr lang="en-US"/>
          <a:t>Too small texts; Hard to read</a:t>
        </a:r>
      </a:p>
    </p188:txBody>
  </p188:cm>
</p188:cmLst>
</file>

<file path=ppt/comments/modernComment_242_43B874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B1D58-7479-4B85-BD52-AC224168C46D}" authorId="{AAA0E90E-3EF0-8755-F947-09AF9A56840C}" created="2026-04-27T13:06:11.476">
    <pc:sldMkLst xmlns:pc="http://schemas.microsoft.com/office/powerpoint/2013/main/command">
      <pc:docMk/>
      <pc:sldMk cId="1136162007" sldId="578"/>
    </pc:sldMkLst>
    <p188:txBody>
      <a:bodyPr/>
      <a:lstStyle/>
      <a:p>
        <a:r>
          <a:rPr lang="en-US"/>
          <a:t>Is this a correct term?</a:t>
        </a:r>
      </a:p>
    </p188:txBody>
  </p188:cm>
  <p188:cm id="{5CA19F35-55A5-46BF-A780-CE166E38AE97}" authorId="{AAA0E90E-3EF0-8755-F947-09AF9A56840C}" created="2026-04-27T13:06:32.8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136162007" sldId="578"/>
      <ac:spMk id="22" creationId="{BC59B4C4-AB49-FAC7-CF6F-63B63142F887}"/>
    </ac:deMkLst>
    <p188:txBody>
      <a:bodyPr/>
      <a:lstStyle/>
      <a:p>
        <a:r>
          <a:rPr lang="en-US"/>
          <a:t>Shouldn’t they be spelled out?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EA5AD-F6C2-2744-AA43-C851D46E285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D0F1D-2E03-8E48-BFBC-80E8A70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5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28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>
            <a:alpha val="3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1800">
                <a:solidFill>
                  <a:schemeClr val="bg2">
                    <a:lumMod val="90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fld id="{B6353442-2010-4D7F-86AD-D1EC2412AB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152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B2CEF-072F-4C78-BC5C-29BB6A62B7D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53442-2010-4D7F-86AD-D1EC2412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65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242_43B874D7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12" Type="http://schemas.microsoft.com/office/2007/relationships/hdphoto" Target="../media/hdphoto5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16.png"/><Relationship Id="rId14" Type="http://schemas.microsoft.com/office/2007/relationships/hdphoto" Target="../media/hdphoto6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7.wdp"/><Relationship Id="rId5" Type="http://schemas.openxmlformats.org/officeDocument/2006/relationships/image" Target="../media/image19.png"/><Relationship Id="rId4" Type="http://schemas.microsoft.com/office/2007/relationships/hdphoto" Target="../media/hdphoto6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241_6CC563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207862" cy="3069954"/>
          </a:xfrm>
          <a:prstGeom prst="rect">
            <a:avLst/>
          </a:prstGeom>
          <a:solidFill>
            <a:srgbClr val="004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602965"/>
            <a:ext cx="12207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-100" dirty="0">
                <a:solidFill>
                  <a:schemeClr val="bg1"/>
                </a:solidFill>
                <a:latin typeface="Arial Black" panose="020B0A04020102020204" pitchFamily="34" charset="0"/>
              </a:rPr>
              <a:t>CE 5316 – Machine Learning for CE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93160" y="2175849"/>
            <a:ext cx="10972800" cy="0"/>
          </a:xfrm>
          <a:prstGeom prst="line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5204593"/>
            <a:ext cx="12207862" cy="1681987"/>
          </a:xfrm>
          <a:prstGeom prst="rect">
            <a:avLst/>
          </a:prstGeom>
          <a:solidFill>
            <a:srgbClr val="004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0" y="228636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15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Final Project</a:t>
            </a:r>
          </a:p>
        </p:txBody>
      </p:sp>
      <p:pic>
        <p:nvPicPr>
          <p:cNvPr id="11266" name="Picture 2" descr="Image result for ut arlington p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768" y="3251019"/>
            <a:ext cx="1758464" cy="17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-1" y="1112804"/>
            <a:ext cx="12191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Key-Phrase Extraction for Identifying Stakeholder Values in Transportation Resilience Literature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1" y="2642565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spc="15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Spring 2026</a:t>
            </a:r>
          </a:p>
        </p:txBody>
      </p:sp>
      <p:sp>
        <p:nvSpPr>
          <p:cNvPr id="17" name="Rectangle 16"/>
          <p:cNvSpPr/>
          <p:nvPr/>
        </p:nvSpPr>
        <p:spPr>
          <a:xfrm flipV="1">
            <a:off x="0" y="5826036"/>
            <a:ext cx="12192000" cy="91810"/>
          </a:xfrm>
          <a:prstGeom prst="rect">
            <a:avLst/>
          </a:prstGeom>
          <a:solidFill>
            <a:srgbClr val="004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372093" y="5913264"/>
            <a:ext cx="544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150" dirty="0">
                <a:solidFill>
                  <a:schemeClr val="bg1"/>
                </a:solidFill>
                <a:latin typeface="Arial Black" panose="020B0A04020102020204" pitchFamily="34" charset="0"/>
              </a:rPr>
              <a:t>By: Shah Salah Uddin Chowdhury</a:t>
            </a:r>
          </a:p>
        </p:txBody>
      </p:sp>
      <p:pic>
        <p:nvPicPr>
          <p:cNvPr id="3076" name="Picture 4" descr="What is Machine Learning (ML)?">
            <a:extLst>
              <a:ext uri="{FF2B5EF4-FFF2-40B4-BE49-F238E27FC236}">
                <a16:creationId xmlns:a16="http://schemas.microsoft.com/office/drawing/2014/main" id="{DDC6C393-DC6C-8196-DFD9-739D1C369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77468"/>
            <a:ext cx="3931920" cy="2112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Download Civil Engineering Construction Site Blueprint Wallpaper |  Wallpapers.com">
            <a:extLst>
              <a:ext uri="{FF2B5EF4-FFF2-40B4-BE49-F238E27FC236}">
                <a16:creationId xmlns:a16="http://schemas.microsoft.com/office/drawing/2014/main" id="{60C007B4-C151-4939-C047-95604D0ED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9869" y="3077468"/>
            <a:ext cx="3572131" cy="2119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D61BED-1855-AD71-6D48-9D3B1B268C8B}"/>
              </a:ext>
            </a:extLst>
          </p:cNvPr>
          <p:cNvSpPr txBox="1"/>
          <p:nvPr/>
        </p:nvSpPr>
        <p:spPr>
          <a:xfrm>
            <a:off x="4346977" y="5445897"/>
            <a:ext cx="3513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For: </a:t>
            </a:r>
            <a:r>
              <a:rPr lang="en-US" spc="150" dirty="0">
                <a:solidFill>
                  <a:schemeClr val="bg1"/>
                </a:solidFill>
                <a:latin typeface="Arial Black" panose="020B0A04020102020204" pitchFamily="34" charset="0"/>
              </a:rPr>
              <a:t>Jinzhu Yu, Ph.D.</a:t>
            </a:r>
          </a:p>
        </p:txBody>
      </p:sp>
    </p:spTree>
    <p:extLst>
      <p:ext uri="{BB962C8B-B14F-4D97-AF65-F5344CB8AC3E}">
        <p14:creationId xmlns:p14="http://schemas.microsoft.com/office/powerpoint/2010/main" val="268005870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3704492" y="753438"/>
            <a:ext cx="5011616" cy="504362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3600" b="1" u="sng" dirty="0">
                <a:solidFill>
                  <a:srgbClr val="660033"/>
                </a:solidFill>
                <a:latin typeface="Arial Black" panose="020B0A04020102020204" pitchFamily="34" charset="0"/>
              </a:rPr>
              <a:t>CONTENTS</a:t>
            </a:r>
          </a:p>
          <a:p>
            <a:pPr>
              <a:lnSpc>
                <a:spcPct val="150000"/>
              </a:lnSpc>
            </a:pPr>
            <a:endParaRPr lang="en-US" sz="200" b="1" dirty="0">
              <a:solidFill>
                <a:srgbClr val="660033"/>
              </a:solidFill>
            </a:endParaRPr>
          </a:p>
          <a:p>
            <a:pPr>
              <a:lnSpc>
                <a:spcPct val="150000"/>
              </a:lnSpc>
            </a:pPr>
            <a:endParaRPr lang="en-US" sz="200" b="1" dirty="0">
              <a:solidFill>
                <a:srgbClr val="660033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b="1" dirty="0">
              <a:solidFill>
                <a:schemeClr val="tx2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b="1" dirty="0">
              <a:solidFill>
                <a:schemeClr val="tx2"/>
              </a:solidFill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171050" y="1837358"/>
            <a:ext cx="6078500" cy="470635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b="1" dirty="0">
                <a:solidFill>
                  <a:schemeClr val="tx2"/>
                </a:solidFill>
              </a:rPr>
              <a:t>Project Backgrounds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b="1" dirty="0">
                <a:solidFill>
                  <a:schemeClr val="tx2"/>
                </a:solidFill>
              </a:rPr>
              <a:t>Objectives &amp; Methods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b="1" dirty="0">
                <a:solidFill>
                  <a:schemeClr val="tx2"/>
                </a:solidFill>
              </a:rPr>
              <a:t>Data Collection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b="1" dirty="0">
                <a:solidFill>
                  <a:schemeClr val="tx2"/>
                </a:solidFill>
              </a:rPr>
              <a:t>ML Model Development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b="1" dirty="0">
                <a:solidFill>
                  <a:schemeClr val="tx2"/>
                </a:solidFill>
              </a:rPr>
              <a:t>Model Validation &amp; Robustness Check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b="1" dirty="0">
                <a:solidFill>
                  <a:schemeClr val="tx2"/>
                </a:solidFill>
              </a:rPr>
              <a:t>Results &amp; Discussions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b="1" dirty="0">
                <a:solidFill>
                  <a:schemeClr val="tx2"/>
                </a:solidFill>
              </a:rPr>
              <a:t>Key Takeaways &amp; Future Research</a:t>
            </a:r>
          </a:p>
        </p:txBody>
      </p:sp>
    </p:spTree>
    <p:extLst>
      <p:ext uri="{BB962C8B-B14F-4D97-AF65-F5344CB8AC3E}">
        <p14:creationId xmlns:p14="http://schemas.microsoft.com/office/powerpoint/2010/main" val="317410664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530942" cy="993058"/>
          </a:xfrm>
          <a:prstGeom prst="rect">
            <a:avLst/>
          </a:prstGeom>
          <a:solidFill>
            <a:srgbClr val="004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0" y="1061884"/>
            <a:ext cx="530942" cy="5796116"/>
          </a:xfrm>
          <a:prstGeom prst="rect">
            <a:avLst/>
          </a:prstGeom>
          <a:solidFill>
            <a:srgbClr val="0064A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-2573901" y="3748773"/>
            <a:ext cx="5973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GB" sz="2400" dirty="0">
                <a:solidFill>
                  <a:schemeClr val="bg1"/>
                </a:solidFill>
                <a:latin typeface="Impact" panose="020B0806030902050204" pitchFamily="34" charset="0"/>
              </a:rPr>
              <a:t>Backgrounds</a:t>
            </a:r>
            <a:endParaRPr lang="en-US" sz="2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28847" y="386490"/>
            <a:ext cx="3501151" cy="691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solidFill>
                  <a:srgbClr val="0064AF"/>
                </a:solidFill>
                <a:latin typeface="Arial Black" panose="020B0A040201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Backgrounds</a:t>
            </a:r>
            <a:endParaRPr lang="en-US" sz="2800" b="1" dirty="0">
              <a:solidFill>
                <a:srgbClr val="0064AF"/>
              </a:solidFill>
              <a:effectLst/>
              <a:latin typeface="Arial Black" panose="020B0A040201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2" descr="Image result for ut arlington logo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64B1"/>
              </a:clrFrom>
              <a:clrTo>
                <a:srgbClr val="0064B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7" y="489341"/>
            <a:ext cx="456959" cy="45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/>
          <p:cNvSpPr/>
          <p:nvPr/>
        </p:nvSpPr>
        <p:spPr>
          <a:xfrm rot="16200000">
            <a:off x="8308802" y="-2948625"/>
            <a:ext cx="116120" cy="7673728"/>
          </a:xfrm>
          <a:prstGeom prst="rect">
            <a:avLst/>
          </a:prstGeom>
          <a:solidFill>
            <a:srgbClr val="0064AF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1627510" y="6472786"/>
            <a:ext cx="525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4332" y="1232785"/>
            <a:ext cx="5180698" cy="4494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buSzPct val="120000"/>
              <a:tabLst>
                <a:tab pos="3770313" algn="l"/>
              </a:tabLst>
              <a:defRPr sz="2800" b="1">
                <a:solidFill>
                  <a:srgbClr val="0064AF"/>
                </a:solidFill>
                <a:latin typeface="Calibri" panose="020F0502020204030204" pitchFamily="34" charset="0"/>
              </a:defRPr>
            </a:lvl1pPr>
          </a:lstStyle>
          <a:p>
            <a:pPr marL="1025525" lvl="0" indent="-565150" algn="l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lang="en-GB" sz="2400" dirty="0"/>
              <a:t>Increasing disasters are causing widespread disruptions and </a:t>
            </a:r>
            <a:r>
              <a:rPr lang="en-GB" sz="2400" dirty="0">
                <a:solidFill>
                  <a:srgbClr val="C00000"/>
                </a:solidFill>
              </a:rPr>
              <a:t>damage to transportation infrastructure</a:t>
            </a:r>
          </a:p>
          <a:p>
            <a:pPr marL="1025525" lvl="0" indent="-565150" algn="l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/>
              <a:t>Infrastructure Recovery requires understanding </a:t>
            </a:r>
            <a:r>
              <a:rPr lang="en-US" altLang="en-US" sz="2400" dirty="0">
                <a:solidFill>
                  <a:srgbClr val="C00000"/>
                </a:solidFill>
              </a:rPr>
              <a:t>stakeholder priorities </a:t>
            </a:r>
          </a:p>
          <a:p>
            <a:pPr marL="1025525" lvl="0" indent="-565150" algn="l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/>
              <a:t>Identifying stakeholder concerns manually is </a:t>
            </a:r>
            <a:r>
              <a:rPr lang="en-US" altLang="en-US" sz="2400" dirty="0">
                <a:solidFill>
                  <a:srgbClr val="C00000"/>
                </a:solidFill>
              </a:rPr>
              <a:t>time-consuming and biased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BF093E9-AD91-7A03-B349-6177EA3AB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14346" y="2682408"/>
            <a:ext cx="5628303" cy="281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loud Callout 10">
            <a:extLst>
              <a:ext uri="{FF2B5EF4-FFF2-40B4-BE49-F238E27FC236}">
                <a16:creationId xmlns:a16="http://schemas.microsoft.com/office/drawing/2014/main" id="{FF9A2B01-E552-40E6-3938-61612B2E2E7B}"/>
              </a:ext>
            </a:extLst>
          </p:cNvPr>
          <p:cNvSpPr/>
          <p:nvPr/>
        </p:nvSpPr>
        <p:spPr>
          <a:xfrm>
            <a:off x="5925599" y="2001139"/>
            <a:ext cx="1993038" cy="612648"/>
          </a:xfrm>
          <a:prstGeom prst="cloud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Profitability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Cloud Callout 11">
            <a:extLst>
              <a:ext uri="{FF2B5EF4-FFF2-40B4-BE49-F238E27FC236}">
                <a16:creationId xmlns:a16="http://schemas.microsoft.com/office/drawing/2014/main" id="{E283F086-3B98-A3F0-ED61-19713FFAE909}"/>
              </a:ext>
            </a:extLst>
          </p:cNvPr>
          <p:cNvSpPr/>
          <p:nvPr/>
        </p:nvSpPr>
        <p:spPr>
          <a:xfrm>
            <a:off x="8182027" y="1992668"/>
            <a:ext cx="1575454" cy="612648"/>
          </a:xfrm>
          <a:prstGeom prst="cloud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Mobility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Oval Callout 13">
            <a:extLst>
              <a:ext uri="{FF2B5EF4-FFF2-40B4-BE49-F238E27FC236}">
                <a16:creationId xmlns:a16="http://schemas.microsoft.com/office/drawing/2014/main" id="{A2041149-29C2-969E-8237-625E07E69B5E}"/>
              </a:ext>
            </a:extLst>
          </p:cNvPr>
          <p:cNvSpPr/>
          <p:nvPr/>
        </p:nvSpPr>
        <p:spPr>
          <a:xfrm>
            <a:off x="10020871" y="1932517"/>
            <a:ext cx="1198756" cy="612648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Equity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C26F1F10-B679-2CED-C120-BFD0D2058CBC}"/>
              </a:ext>
            </a:extLst>
          </p:cNvPr>
          <p:cNvSpPr/>
          <p:nvPr/>
        </p:nvSpPr>
        <p:spPr>
          <a:xfrm rot="10800000">
            <a:off x="825294" y="5749923"/>
            <a:ext cx="10930176" cy="199157"/>
          </a:xfrm>
          <a:prstGeom prst="triangle">
            <a:avLst>
              <a:gd name="adj" fmla="val 50225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C7653F-048B-E4E3-0778-99AAD498A95E}"/>
              </a:ext>
            </a:extLst>
          </p:cNvPr>
          <p:cNvSpPr txBox="1"/>
          <p:nvPr/>
        </p:nvSpPr>
        <p:spPr>
          <a:xfrm>
            <a:off x="809083" y="6033302"/>
            <a:ext cx="10818427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</a:rPr>
              <a:t>Application of </a:t>
            </a:r>
            <a:r>
              <a:rPr lang="en-US" sz="2400" b="1" dirty="0">
                <a:solidFill>
                  <a:srgbClr val="C00000"/>
                </a:solidFill>
              </a:rPr>
              <a:t>text analytics and machine learning approaches</a:t>
            </a: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68760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F7B32-2DEE-E994-C553-92F34AC1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3676261-E4EF-02EC-FE93-497D5FA8C894}"/>
              </a:ext>
            </a:extLst>
          </p:cNvPr>
          <p:cNvSpPr/>
          <p:nvPr/>
        </p:nvSpPr>
        <p:spPr>
          <a:xfrm>
            <a:off x="0" y="0"/>
            <a:ext cx="530942" cy="993058"/>
          </a:xfrm>
          <a:prstGeom prst="rect">
            <a:avLst/>
          </a:prstGeom>
          <a:solidFill>
            <a:srgbClr val="004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766119-9C15-DABB-BCE8-D780762E1968}"/>
              </a:ext>
            </a:extLst>
          </p:cNvPr>
          <p:cNvSpPr/>
          <p:nvPr/>
        </p:nvSpPr>
        <p:spPr>
          <a:xfrm>
            <a:off x="0" y="1061884"/>
            <a:ext cx="530942" cy="5796116"/>
          </a:xfrm>
          <a:prstGeom prst="rect">
            <a:avLst/>
          </a:prstGeom>
          <a:solidFill>
            <a:srgbClr val="0064A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E8E537-DF29-2931-376C-75B5765B9B37}"/>
              </a:ext>
            </a:extLst>
          </p:cNvPr>
          <p:cNvSpPr txBox="1"/>
          <p:nvPr/>
        </p:nvSpPr>
        <p:spPr>
          <a:xfrm rot="16200000">
            <a:off x="-2573901" y="3748773"/>
            <a:ext cx="5973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GB" sz="2400" dirty="0">
                <a:solidFill>
                  <a:schemeClr val="bg1"/>
                </a:solidFill>
                <a:latin typeface="Impact" panose="020B0806030902050204" pitchFamily="34" charset="0"/>
              </a:rPr>
              <a:t>Backgrounds</a:t>
            </a:r>
            <a:endParaRPr lang="en-US" sz="2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57F2E1-1BFC-C98E-FF4F-FC8F3933F403}"/>
              </a:ext>
            </a:extLst>
          </p:cNvPr>
          <p:cNvSpPr/>
          <p:nvPr/>
        </p:nvSpPr>
        <p:spPr>
          <a:xfrm>
            <a:off x="1028847" y="386490"/>
            <a:ext cx="3501151" cy="691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solidFill>
                  <a:srgbClr val="0064AF"/>
                </a:solidFill>
                <a:latin typeface="Arial Black" panose="020B0A040201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Backgrounds</a:t>
            </a:r>
            <a:endParaRPr lang="en-US" sz="2800" b="1" dirty="0">
              <a:solidFill>
                <a:srgbClr val="0064AF"/>
              </a:solidFill>
              <a:effectLst/>
              <a:latin typeface="Arial Black" panose="020B0A040201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2" descr="Image result for ut arlington logo">
            <a:extLst>
              <a:ext uri="{FF2B5EF4-FFF2-40B4-BE49-F238E27FC236}">
                <a16:creationId xmlns:a16="http://schemas.microsoft.com/office/drawing/2014/main" id="{39052C85-259D-9FB7-17D9-F0E1BB075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64B1"/>
              </a:clrFrom>
              <a:clrTo>
                <a:srgbClr val="0064B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7" y="489341"/>
            <a:ext cx="456959" cy="45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6302CE28-1D90-1689-486F-93164E1C94B1}"/>
              </a:ext>
            </a:extLst>
          </p:cNvPr>
          <p:cNvSpPr/>
          <p:nvPr/>
        </p:nvSpPr>
        <p:spPr>
          <a:xfrm rot="16200000">
            <a:off x="8308802" y="-2948625"/>
            <a:ext cx="116120" cy="7673728"/>
          </a:xfrm>
          <a:prstGeom prst="rect">
            <a:avLst/>
          </a:prstGeom>
          <a:solidFill>
            <a:srgbClr val="0064AF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624896-16F5-3A4D-887D-E55808DE8D8B}"/>
              </a:ext>
            </a:extLst>
          </p:cNvPr>
          <p:cNvSpPr txBox="1"/>
          <p:nvPr/>
        </p:nvSpPr>
        <p:spPr>
          <a:xfrm>
            <a:off x="11627510" y="6472786"/>
            <a:ext cx="525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B9955E75-28EA-D85B-F276-CBA2316F0356}"/>
              </a:ext>
            </a:extLst>
          </p:cNvPr>
          <p:cNvSpPr/>
          <p:nvPr/>
        </p:nvSpPr>
        <p:spPr>
          <a:xfrm rot="10800000">
            <a:off x="1389303" y="5314901"/>
            <a:ext cx="9852304" cy="285763"/>
          </a:xfrm>
          <a:prstGeom prst="triangle">
            <a:avLst>
              <a:gd name="adj" fmla="val 50225"/>
            </a:avLst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04EE12-A8D2-DCFC-F9BC-1C349C93FC70}"/>
              </a:ext>
            </a:extLst>
          </p:cNvPr>
          <p:cNvSpPr txBox="1"/>
          <p:nvPr/>
        </p:nvSpPr>
        <p:spPr>
          <a:xfrm>
            <a:off x="938230" y="1199975"/>
            <a:ext cx="10754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buSzPct val="120000"/>
              <a:tabLst>
                <a:tab pos="3770313" algn="l"/>
              </a:tabLst>
              <a:defRPr sz="2800" b="1">
                <a:solidFill>
                  <a:srgbClr val="0064AF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Methods for Stakeholder Concern Identification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F8A0D5-9157-E83B-7443-CEC226A89906}"/>
              </a:ext>
            </a:extLst>
          </p:cNvPr>
          <p:cNvSpPr/>
          <p:nvPr/>
        </p:nvSpPr>
        <p:spPr>
          <a:xfrm>
            <a:off x="1398794" y="2612039"/>
            <a:ext cx="2860061" cy="475694"/>
          </a:xfrm>
          <a:prstGeom prst="roundRect">
            <a:avLst>
              <a:gd name="adj" fmla="val 4716"/>
            </a:avLst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2060"/>
                </a:solidFill>
              </a:rPr>
              <a:t>Manual Review</a:t>
            </a: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0D150552-8EEB-0B96-9E49-D40536C510C8}"/>
              </a:ext>
            </a:extLst>
          </p:cNvPr>
          <p:cNvSpPr/>
          <p:nvPr/>
        </p:nvSpPr>
        <p:spPr>
          <a:xfrm>
            <a:off x="1398792" y="1906227"/>
            <a:ext cx="2860062" cy="585383"/>
          </a:xfrm>
          <a:prstGeom prst="round2SameRect">
            <a:avLst/>
          </a:prstGeom>
          <a:solidFill>
            <a:srgbClr val="002060"/>
          </a:solidFill>
          <a:ln w="28575">
            <a:solidFill>
              <a:srgbClr val="002060"/>
            </a:solidFill>
            <a:prstDash val="lg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Approach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149B7D7-3F27-B92E-1637-85ADAFF9B9A8}"/>
              </a:ext>
            </a:extLst>
          </p:cNvPr>
          <p:cNvSpPr/>
          <p:nvPr/>
        </p:nvSpPr>
        <p:spPr>
          <a:xfrm>
            <a:off x="1398794" y="3174570"/>
            <a:ext cx="2860061" cy="475694"/>
          </a:xfrm>
          <a:prstGeom prst="roundRect">
            <a:avLst>
              <a:gd name="adj" fmla="val 4716"/>
            </a:avLst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2060"/>
                </a:solidFill>
              </a:rPr>
              <a:t>Topic Modeling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ED57D74-AAA1-E556-2F3E-31571AB20677}"/>
              </a:ext>
            </a:extLst>
          </p:cNvPr>
          <p:cNvSpPr/>
          <p:nvPr/>
        </p:nvSpPr>
        <p:spPr>
          <a:xfrm>
            <a:off x="1398793" y="3737101"/>
            <a:ext cx="2860061" cy="475694"/>
          </a:xfrm>
          <a:prstGeom prst="roundRect">
            <a:avLst>
              <a:gd name="adj" fmla="val 4716"/>
            </a:avLst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2060"/>
                </a:solidFill>
              </a:rPr>
              <a:t>Supervised ML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2C0CD1-0113-EFD4-5FC6-CEE149CCF1E4}"/>
              </a:ext>
            </a:extLst>
          </p:cNvPr>
          <p:cNvSpPr/>
          <p:nvPr/>
        </p:nvSpPr>
        <p:spPr>
          <a:xfrm>
            <a:off x="1398792" y="4654572"/>
            <a:ext cx="2860061" cy="475694"/>
          </a:xfrm>
          <a:prstGeom prst="roundRect">
            <a:avLst>
              <a:gd name="adj" fmla="val 4716"/>
            </a:avLst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Key-Phrase Extraction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5E8D5A1-FEDE-3938-4DC0-051B51442768}"/>
              </a:ext>
            </a:extLst>
          </p:cNvPr>
          <p:cNvSpPr/>
          <p:nvPr/>
        </p:nvSpPr>
        <p:spPr>
          <a:xfrm>
            <a:off x="4885427" y="2625183"/>
            <a:ext cx="2860061" cy="475694"/>
          </a:xfrm>
          <a:prstGeom prst="roundRect">
            <a:avLst>
              <a:gd name="adj" fmla="val 4716"/>
            </a:avLst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2060"/>
                </a:solidFill>
              </a:rPr>
              <a:t>Expert Reading</a:t>
            </a: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980B7C09-AD5C-1FF1-7A7A-FA2F99C85636}"/>
              </a:ext>
            </a:extLst>
          </p:cNvPr>
          <p:cNvSpPr/>
          <p:nvPr/>
        </p:nvSpPr>
        <p:spPr>
          <a:xfrm>
            <a:off x="4885425" y="1906227"/>
            <a:ext cx="2860062" cy="585383"/>
          </a:xfrm>
          <a:prstGeom prst="round2SameRect">
            <a:avLst/>
          </a:prstGeom>
          <a:solidFill>
            <a:srgbClr val="002060"/>
          </a:solidFill>
          <a:ln w="28575">
            <a:solidFill>
              <a:srgbClr val="002060"/>
            </a:solidFill>
            <a:prstDash val="lg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Example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27D4708-B471-F45D-C94C-A12C2DCCA7DF}"/>
              </a:ext>
            </a:extLst>
          </p:cNvPr>
          <p:cNvSpPr/>
          <p:nvPr/>
        </p:nvSpPr>
        <p:spPr>
          <a:xfrm>
            <a:off x="4885427" y="3187714"/>
            <a:ext cx="2860061" cy="475694"/>
          </a:xfrm>
          <a:prstGeom prst="roundRect">
            <a:avLst>
              <a:gd name="adj" fmla="val 4716"/>
            </a:avLst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2060"/>
                </a:solidFill>
              </a:rPr>
              <a:t>LDA/NMF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C59B4C4-AB49-FAC7-CF6F-63B63142F887}"/>
              </a:ext>
            </a:extLst>
          </p:cNvPr>
          <p:cNvSpPr/>
          <p:nvPr/>
        </p:nvSpPr>
        <p:spPr>
          <a:xfrm>
            <a:off x="4885426" y="3750245"/>
            <a:ext cx="2860061" cy="475694"/>
          </a:xfrm>
          <a:prstGeom prst="roundRect">
            <a:avLst>
              <a:gd name="adj" fmla="val 4716"/>
            </a:avLst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2060"/>
                </a:solidFill>
              </a:rPr>
              <a:t>RF/RNN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8DD8BBA-C191-6AFC-B9F3-DBDD537E165E}"/>
              </a:ext>
            </a:extLst>
          </p:cNvPr>
          <p:cNvSpPr/>
          <p:nvPr/>
        </p:nvSpPr>
        <p:spPr>
          <a:xfrm>
            <a:off x="4885425" y="4667716"/>
            <a:ext cx="2860061" cy="475694"/>
          </a:xfrm>
          <a:prstGeom prst="roundRect">
            <a:avLst>
              <a:gd name="adj" fmla="val 4716"/>
            </a:avLst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 err="1">
                <a:solidFill>
                  <a:schemeClr val="accent2">
                    <a:lumMod val="50000"/>
                  </a:schemeClr>
                </a:solidFill>
              </a:rPr>
              <a:t>KeyBERT</a:t>
            </a:r>
            <a:endParaRPr lang="en-US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0167818-43FB-E4C9-CD4E-D4192BBC61F1}"/>
              </a:ext>
            </a:extLst>
          </p:cNvPr>
          <p:cNvSpPr/>
          <p:nvPr/>
        </p:nvSpPr>
        <p:spPr>
          <a:xfrm>
            <a:off x="8391037" y="2601804"/>
            <a:ext cx="2860061" cy="475694"/>
          </a:xfrm>
          <a:prstGeom prst="roundRect">
            <a:avLst>
              <a:gd name="adj" fmla="val 4716"/>
            </a:avLst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2060"/>
                </a:solidFill>
              </a:rPr>
              <a:t>Slow, Subjective</a:t>
            </a: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127F0691-CF46-72E3-943A-BB437E3CF8F7}"/>
              </a:ext>
            </a:extLst>
          </p:cNvPr>
          <p:cNvSpPr/>
          <p:nvPr/>
        </p:nvSpPr>
        <p:spPr>
          <a:xfrm>
            <a:off x="8391035" y="1895992"/>
            <a:ext cx="2860062" cy="585383"/>
          </a:xfrm>
          <a:prstGeom prst="round2SameRect">
            <a:avLst/>
          </a:prstGeom>
          <a:solidFill>
            <a:srgbClr val="002060"/>
          </a:solidFill>
          <a:ln w="28575">
            <a:solidFill>
              <a:srgbClr val="002060"/>
            </a:solidFill>
            <a:prstDash val="lg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Limitations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79A9173-691A-61E3-0FBC-DDE939408E1E}"/>
              </a:ext>
            </a:extLst>
          </p:cNvPr>
          <p:cNvSpPr/>
          <p:nvPr/>
        </p:nvSpPr>
        <p:spPr>
          <a:xfrm>
            <a:off x="8391037" y="3164335"/>
            <a:ext cx="2860061" cy="475694"/>
          </a:xfrm>
          <a:prstGeom prst="roundRect">
            <a:avLst>
              <a:gd name="adj" fmla="val 4716"/>
            </a:avLst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2060"/>
                </a:solidFill>
              </a:rPr>
              <a:t>Broad Topics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8724CB-0433-F653-B71D-95F98E68F064}"/>
              </a:ext>
            </a:extLst>
          </p:cNvPr>
          <p:cNvSpPr/>
          <p:nvPr/>
        </p:nvSpPr>
        <p:spPr>
          <a:xfrm>
            <a:off x="8391036" y="3726866"/>
            <a:ext cx="2860061" cy="475694"/>
          </a:xfrm>
          <a:prstGeom prst="roundRect">
            <a:avLst>
              <a:gd name="adj" fmla="val 4716"/>
            </a:avLst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02060"/>
                </a:solidFill>
              </a:rPr>
              <a:t>Labeled Data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B56FD49-79B2-E7CC-8601-1A8045ED20EB}"/>
              </a:ext>
            </a:extLst>
          </p:cNvPr>
          <p:cNvSpPr/>
          <p:nvPr/>
        </p:nvSpPr>
        <p:spPr>
          <a:xfrm>
            <a:off x="8391035" y="4644337"/>
            <a:ext cx="2860061" cy="475694"/>
          </a:xfrm>
          <a:prstGeom prst="roundRect">
            <a:avLst>
              <a:gd name="adj" fmla="val 4716"/>
            </a:avLst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Interpretable Phrases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0B3C4B-3EC8-9F36-2355-7AE656500F15}"/>
              </a:ext>
            </a:extLst>
          </p:cNvPr>
          <p:cNvCxnSpPr/>
          <p:nvPr/>
        </p:nvCxnSpPr>
        <p:spPr>
          <a:xfrm>
            <a:off x="1398792" y="4438984"/>
            <a:ext cx="9942308" cy="0"/>
          </a:xfrm>
          <a:prstGeom prst="line">
            <a:avLst/>
          </a:prstGeom>
          <a:ln w="317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07A408A-DB6E-DA84-162B-E14B7F598895}"/>
              </a:ext>
            </a:extLst>
          </p:cNvPr>
          <p:cNvSpPr txBox="1"/>
          <p:nvPr/>
        </p:nvSpPr>
        <p:spPr>
          <a:xfrm>
            <a:off x="992721" y="5708649"/>
            <a:ext cx="107544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buSzPct val="120000"/>
              <a:tabLst>
                <a:tab pos="3770313" algn="l"/>
              </a:tabLst>
              <a:defRPr sz="2800" b="1">
                <a:solidFill>
                  <a:srgbClr val="0064AF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Adopts an </a:t>
            </a:r>
            <a:r>
              <a:rPr lang="en-US" dirty="0">
                <a:solidFill>
                  <a:srgbClr val="C00000"/>
                </a:solidFill>
              </a:rPr>
              <a:t>unsupervised key-phrase extraction </a:t>
            </a:r>
            <a:r>
              <a:rPr lang="en-US" dirty="0"/>
              <a:t>approach </a:t>
            </a:r>
          </a:p>
          <a:p>
            <a:r>
              <a:rPr lang="en-US" dirty="0"/>
              <a:t>for clearer concept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1136162007"/>
      </p:ext>
    </p:extLst>
  </p:cSld>
  <p:clrMapOvr>
    <a:masterClrMapping/>
  </p:clrMapOvr>
  <p:transition spd="slow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839C9-30DD-3041-354C-62CBF8CAB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F5104E-846E-3B21-B09C-83FE1AEED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893" y="4042632"/>
            <a:ext cx="3989494" cy="254533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EE8B47C-31C0-D8AD-232A-9B9B930047CB}"/>
              </a:ext>
            </a:extLst>
          </p:cNvPr>
          <p:cNvSpPr/>
          <p:nvPr/>
        </p:nvSpPr>
        <p:spPr>
          <a:xfrm>
            <a:off x="0" y="0"/>
            <a:ext cx="530942" cy="993058"/>
          </a:xfrm>
          <a:prstGeom prst="rect">
            <a:avLst/>
          </a:prstGeom>
          <a:solidFill>
            <a:srgbClr val="004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D0BDB3-3A4E-901F-A9A2-78A241C99EF5}"/>
              </a:ext>
            </a:extLst>
          </p:cNvPr>
          <p:cNvSpPr/>
          <p:nvPr/>
        </p:nvSpPr>
        <p:spPr>
          <a:xfrm>
            <a:off x="0" y="1061884"/>
            <a:ext cx="530942" cy="5796116"/>
          </a:xfrm>
          <a:prstGeom prst="rect">
            <a:avLst/>
          </a:prstGeom>
          <a:solidFill>
            <a:srgbClr val="0064A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6489B8-A0AE-AC99-5B9E-072ED8D5248B}"/>
              </a:ext>
            </a:extLst>
          </p:cNvPr>
          <p:cNvSpPr txBox="1"/>
          <p:nvPr/>
        </p:nvSpPr>
        <p:spPr>
          <a:xfrm rot="16200000">
            <a:off x="-2573901" y="3748773"/>
            <a:ext cx="5973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2400" dirty="0">
                <a:solidFill>
                  <a:schemeClr val="bg1"/>
                </a:solidFill>
                <a:latin typeface="Impact" panose="020B0806030902050204" pitchFamily="34" charset="0"/>
              </a:rPr>
              <a:t> Objectives &amp; Methods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A28FC4-7645-C6A8-E6EE-FD3986B9AF93}"/>
              </a:ext>
            </a:extLst>
          </p:cNvPr>
          <p:cNvSpPr/>
          <p:nvPr/>
        </p:nvSpPr>
        <p:spPr>
          <a:xfrm>
            <a:off x="1028847" y="386490"/>
            <a:ext cx="5738366" cy="691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solidFill>
                  <a:srgbClr val="0064AF"/>
                </a:solidFill>
                <a:latin typeface="Arial Black" panose="020B0A040201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Objectives &amp; Methods</a:t>
            </a:r>
            <a:endParaRPr lang="en-US" sz="2800" b="1" dirty="0">
              <a:solidFill>
                <a:srgbClr val="0064AF"/>
              </a:solidFill>
              <a:effectLst/>
              <a:latin typeface="Arial Black" panose="020B0A040201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2" descr="Image result for ut arlington logo">
            <a:extLst>
              <a:ext uri="{FF2B5EF4-FFF2-40B4-BE49-F238E27FC236}">
                <a16:creationId xmlns:a16="http://schemas.microsoft.com/office/drawing/2014/main" id="{A30A3C8E-A199-56A9-F18C-6CDE748A3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64B1"/>
              </a:clrFrom>
              <a:clrTo>
                <a:srgbClr val="0064B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7" y="489341"/>
            <a:ext cx="456959" cy="45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C182563B-48FF-E572-C967-30CE64607975}"/>
              </a:ext>
            </a:extLst>
          </p:cNvPr>
          <p:cNvSpPr/>
          <p:nvPr/>
        </p:nvSpPr>
        <p:spPr>
          <a:xfrm rot="16200000">
            <a:off x="9365825" y="-1879875"/>
            <a:ext cx="116123" cy="5536226"/>
          </a:xfrm>
          <a:prstGeom prst="rect">
            <a:avLst/>
          </a:prstGeom>
          <a:solidFill>
            <a:srgbClr val="0064AF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D1FC51-D6F1-39A3-06D4-82DB9B358ACD}"/>
              </a:ext>
            </a:extLst>
          </p:cNvPr>
          <p:cNvSpPr txBox="1"/>
          <p:nvPr/>
        </p:nvSpPr>
        <p:spPr>
          <a:xfrm>
            <a:off x="11627510" y="6472786"/>
            <a:ext cx="525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26DAD0B-672E-8259-FF4D-866CBA9D1394}"/>
              </a:ext>
            </a:extLst>
          </p:cNvPr>
          <p:cNvSpPr/>
          <p:nvPr/>
        </p:nvSpPr>
        <p:spPr>
          <a:xfrm>
            <a:off x="1579954" y="1783961"/>
            <a:ext cx="4448313" cy="91257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Develop a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KeyBERT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-based </a:t>
            </a:r>
          </a:p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unsupervised ML framework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E5D468C-362B-AAB8-A72E-08789DDA23B3}"/>
              </a:ext>
            </a:extLst>
          </p:cNvPr>
          <p:cNvSpPr/>
          <p:nvPr/>
        </p:nvSpPr>
        <p:spPr>
          <a:xfrm>
            <a:off x="7303422" y="1783961"/>
            <a:ext cx="4448313" cy="91257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Evaluate extraction relevance, </a:t>
            </a:r>
          </a:p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consistency, and robustness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5DF5AD-B9AA-814E-3E85-506EBEA30CF9}"/>
              </a:ext>
            </a:extLst>
          </p:cNvPr>
          <p:cNvSpPr/>
          <p:nvPr/>
        </p:nvSpPr>
        <p:spPr>
          <a:xfrm>
            <a:off x="1579953" y="2717829"/>
            <a:ext cx="4448313" cy="118218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Preprocessing text corpus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KeyBERT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phrase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Stakeholder-value mapping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1AAF4C-3895-CEF7-6F57-3C188120A18F}"/>
              </a:ext>
            </a:extLst>
          </p:cNvPr>
          <p:cNvSpPr/>
          <p:nvPr/>
        </p:nvSpPr>
        <p:spPr>
          <a:xfrm>
            <a:off x="7303421" y="2716700"/>
            <a:ext cx="4400900" cy="11655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Precision@10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Support ranking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Robustness checks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CB8278-5A6F-F7EB-64EA-B4C88575387A}"/>
              </a:ext>
            </a:extLst>
          </p:cNvPr>
          <p:cNvSpPr/>
          <p:nvPr/>
        </p:nvSpPr>
        <p:spPr>
          <a:xfrm>
            <a:off x="825294" y="1783961"/>
            <a:ext cx="686508" cy="912578"/>
          </a:xfrm>
          <a:prstGeom prst="roundRect">
            <a:avLst>
              <a:gd name="adj" fmla="val 29493"/>
            </a:avLst>
          </a:prstGeom>
          <a:solidFill>
            <a:srgbClr val="CA70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34FDAE-8229-9B52-B149-CA4DCA0D47BB}"/>
              </a:ext>
            </a:extLst>
          </p:cNvPr>
          <p:cNvSpPr/>
          <p:nvPr/>
        </p:nvSpPr>
        <p:spPr>
          <a:xfrm>
            <a:off x="6548761" y="1775723"/>
            <a:ext cx="686508" cy="912578"/>
          </a:xfrm>
          <a:prstGeom prst="roundRect">
            <a:avLst>
              <a:gd name="adj" fmla="val 29493"/>
            </a:avLst>
          </a:prstGeom>
          <a:solidFill>
            <a:srgbClr val="CA70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32631244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DDD34-70E0-4E06-F4F0-369AEFF72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B9EFE13-407A-82F8-4018-0A7E01219027}"/>
              </a:ext>
            </a:extLst>
          </p:cNvPr>
          <p:cNvSpPr/>
          <p:nvPr/>
        </p:nvSpPr>
        <p:spPr>
          <a:xfrm>
            <a:off x="825294" y="993057"/>
            <a:ext cx="10909506" cy="8502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6C93EAC-E561-ACC4-8021-7FED4BB9EA9F}"/>
              </a:ext>
            </a:extLst>
          </p:cNvPr>
          <p:cNvSpPr/>
          <p:nvPr/>
        </p:nvSpPr>
        <p:spPr>
          <a:xfrm>
            <a:off x="825294" y="2924650"/>
            <a:ext cx="10909506" cy="37009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95E59B7-E7B2-C352-AE54-E81DE0EA29C2}"/>
              </a:ext>
            </a:extLst>
          </p:cNvPr>
          <p:cNvSpPr/>
          <p:nvPr/>
        </p:nvSpPr>
        <p:spPr>
          <a:xfrm>
            <a:off x="825294" y="1892740"/>
            <a:ext cx="10909506" cy="9505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9BF325-736E-39E6-E263-E6A2F093E9B7}"/>
              </a:ext>
            </a:extLst>
          </p:cNvPr>
          <p:cNvSpPr/>
          <p:nvPr/>
        </p:nvSpPr>
        <p:spPr>
          <a:xfrm>
            <a:off x="0" y="0"/>
            <a:ext cx="530942" cy="993058"/>
          </a:xfrm>
          <a:prstGeom prst="rect">
            <a:avLst/>
          </a:prstGeom>
          <a:solidFill>
            <a:srgbClr val="004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AE4C5B-C895-FAFC-D80C-156F8FF2D2DB}"/>
              </a:ext>
            </a:extLst>
          </p:cNvPr>
          <p:cNvSpPr/>
          <p:nvPr/>
        </p:nvSpPr>
        <p:spPr>
          <a:xfrm>
            <a:off x="0" y="1061884"/>
            <a:ext cx="530942" cy="5796116"/>
          </a:xfrm>
          <a:prstGeom prst="rect">
            <a:avLst/>
          </a:prstGeom>
          <a:solidFill>
            <a:srgbClr val="0064A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AB1FCA-EAE7-00B6-3E64-038CBA24746A}"/>
              </a:ext>
            </a:extLst>
          </p:cNvPr>
          <p:cNvSpPr txBox="1"/>
          <p:nvPr/>
        </p:nvSpPr>
        <p:spPr>
          <a:xfrm rot="16200000">
            <a:off x="-2573901" y="3748773"/>
            <a:ext cx="5973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2400" dirty="0">
                <a:solidFill>
                  <a:schemeClr val="bg1"/>
                </a:solidFill>
                <a:latin typeface="Impact" panose="020B0806030902050204" pitchFamily="34" charset="0"/>
              </a:rPr>
              <a:t>Data Collection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E78E86-099B-7D48-6D16-C33C1C74A36A}"/>
              </a:ext>
            </a:extLst>
          </p:cNvPr>
          <p:cNvSpPr/>
          <p:nvPr/>
        </p:nvSpPr>
        <p:spPr>
          <a:xfrm>
            <a:off x="1028847" y="386490"/>
            <a:ext cx="4870372" cy="691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solidFill>
                  <a:srgbClr val="0064AF"/>
                </a:solidFill>
                <a:latin typeface="Arial Black" panose="020B0A040201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Dataset Collection</a:t>
            </a:r>
            <a:endParaRPr lang="en-US" sz="2800" b="1" dirty="0">
              <a:solidFill>
                <a:srgbClr val="0064AF"/>
              </a:solidFill>
              <a:effectLst/>
              <a:latin typeface="Arial Black" panose="020B0A040201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2" descr="Image result for ut arlington logo">
            <a:extLst>
              <a:ext uri="{FF2B5EF4-FFF2-40B4-BE49-F238E27FC236}">
                <a16:creationId xmlns:a16="http://schemas.microsoft.com/office/drawing/2014/main" id="{B844677B-B179-9B97-87BB-CAABDE105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64B1"/>
              </a:clrFrom>
              <a:clrTo>
                <a:srgbClr val="0064B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7" y="489341"/>
            <a:ext cx="456959" cy="45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2AEEAC94-BBAF-E414-81B3-A7F789E99368}"/>
              </a:ext>
            </a:extLst>
          </p:cNvPr>
          <p:cNvSpPr/>
          <p:nvPr/>
        </p:nvSpPr>
        <p:spPr>
          <a:xfrm rot="16200000">
            <a:off x="8926321" y="-2335175"/>
            <a:ext cx="112054" cy="6442756"/>
          </a:xfrm>
          <a:prstGeom prst="rect">
            <a:avLst/>
          </a:prstGeom>
          <a:solidFill>
            <a:srgbClr val="0064AF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14FAAE-9EC9-316A-4E2C-69070A190FE5}"/>
              </a:ext>
            </a:extLst>
          </p:cNvPr>
          <p:cNvSpPr txBox="1"/>
          <p:nvPr/>
        </p:nvSpPr>
        <p:spPr>
          <a:xfrm>
            <a:off x="11627510" y="6472786"/>
            <a:ext cx="525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2FFE3B-FBCC-2EFC-9648-45935F70ACF4}"/>
              </a:ext>
            </a:extLst>
          </p:cNvPr>
          <p:cNvSpPr/>
          <p:nvPr/>
        </p:nvSpPr>
        <p:spPr>
          <a:xfrm>
            <a:off x="1028847" y="1974140"/>
            <a:ext cx="1586290" cy="8051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Topic Definition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EDDCB8D-F1DC-ECF8-4E36-690829D840A6}"/>
              </a:ext>
            </a:extLst>
          </p:cNvPr>
          <p:cNvSpPr/>
          <p:nvPr/>
        </p:nvSpPr>
        <p:spPr>
          <a:xfrm>
            <a:off x="2615137" y="2242604"/>
            <a:ext cx="208630" cy="323759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496E80-3129-1AFD-1967-3B068DD7B216}"/>
              </a:ext>
            </a:extLst>
          </p:cNvPr>
          <p:cNvSpPr/>
          <p:nvPr/>
        </p:nvSpPr>
        <p:spPr>
          <a:xfrm>
            <a:off x="2823767" y="1974140"/>
            <a:ext cx="1586290" cy="8051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Literature Search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9029E21-D518-3A77-5C44-230149BED9C2}"/>
              </a:ext>
            </a:extLst>
          </p:cNvPr>
          <p:cNvSpPr/>
          <p:nvPr/>
        </p:nvSpPr>
        <p:spPr>
          <a:xfrm>
            <a:off x="4410057" y="2242604"/>
            <a:ext cx="208630" cy="323759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C791270-6BCF-3BA9-D11C-CAD5E74F4204}"/>
              </a:ext>
            </a:extLst>
          </p:cNvPr>
          <p:cNvSpPr/>
          <p:nvPr/>
        </p:nvSpPr>
        <p:spPr>
          <a:xfrm>
            <a:off x="4618687" y="1969112"/>
            <a:ext cx="1586290" cy="8051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Paper Screening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49095266-A731-9957-67C3-0974D30551AE}"/>
              </a:ext>
            </a:extLst>
          </p:cNvPr>
          <p:cNvSpPr/>
          <p:nvPr/>
        </p:nvSpPr>
        <p:spPr>
          <a:xfrm>
            <a:off x="6204977" y="2237576"/>
            <a:ext cx="208630" cy="323759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D79C0F7-664B-047A-1919-DCAB54FCDC86}"/>
              </a:ext>
            </a:extLst>
          </p:cNvPr>
          <p:cNvSpPr/>
          <p:nvPr/>
        </p:nvSpPr>
        <p:spPr>
          <a:xfrm>
            <a:off x="6413607" y="1997156"/>
            <a:ext cx="1586290" cy="8051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Full Text Collection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F30E8CDD-170C-720A-58C1-15EF0C0E6519}"/>
              </a:ext>
            </a:extLst>
          </p:cNvPr>
          <p:cNvSpPr/>
          <p:nvPr/>
        </p:nvSpPr>
        <p:spPr>
          <a:xfrm>
            <a:off x="7999897" y="2265620"/>
            <a:ext cx="208630" cy="323759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A01F583-31C7-7394-EABD-B053A690B432}"/>
              </a:ext>
            </a:extLst>
          </p:cNvPr>
          <p:cNvSpPr/>
          <p:nvPr/>
        </p:nvSpPr>
        <p:spPr>
          <a:xfrm>
            <a:off x="8208527" y="1984456"/>
            <a:ext cx="1586290" cy="8051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Dataset Creation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4DBE6FA4-FF45-1EE3-05E6-535C2EA0C870}"/>
              </a:ext>
            </a:extLst>
          </p:cNvPr>
          <p:cNvSpPr/>
          <p:nvPr/>
        </p:nvSpPr>
        <p:spPr>
          <a:xfrm>
            <a:off x="9794817" y="2252920"/>
            <a:ext cx="208630" cy="323759"/>
          </a:xfrm>
          <a:prstGeom prst="rightArrow">
            <a:avLst/>
          </a:prstGeom>
          <a:solidFill>
            <a:schemeClr val="tx2">
              <a:lumMod val="5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C891132-B448-A601-F75A-BD318C1CA7AE}"/>
              </a:ext>
            </a:extLst>
          </p:cNvPr>
          <p:cNvSpPr/>
          <p:nvPr/>
        </p:nvSpPr>
        <p:spPr>
          <a:xfrm>
            <a:off x="10003447" y="1969112"/>
            <a:ext cx="1586290" cy="8051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Final </a:t>
            </a:r>
          </a:p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Corpus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B0A71BE-C136-E8AD-42C5-A958BD865FC2}"/>
              </a:ext>
            </a:extLst>
          </p:cNvPr>
          <p:cNvSpPr/>
          <p:nvPr/>
        </p:nvSpPr>
        <p:spPr>
          <a:xfrm>
            <a:off x="1047783" y="3087760"/>
            <a:ext cx="1586290" cy="33569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lang="en-US" b="1" u="sng" dirty="0">
                <a:solidFill>
                  <a:srgbClr val="C00000"/>
                </a:solidFill>
              </a:rPr>
              <a:t>Research </a:t>
            </a:r>
          </a:p>
          <a:p>
            <a:pPr algn="ctr">
              <a:spcAft>
                <a:spcPts val="600"/>
              </a:spcAft>
            </a:pPr>
            <a:r>
              <a:rPr lang="en-US" b="1" u="sng" dirty="0">
                <a:solidFill>
                  <a:srgbClr val="C00000"/>
                </a:solidFill>
              </a:rPr>
              <a:t>Topic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Trans. Recovery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Disaster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Stakeholder Concern</a:t>
            </a:r>
          </a:p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4BB80AE-0D32-60AD-E197-425E1240E9F5}"/>
              </a:ext>
            </a:extLst>
          </p:cNvPr>
          <p:cNvSpPr/>
          <p:nvPr/>
        </p:nvSpPr>
        <p:spPr>
          <a:xfrm>
            <a:off x="2815394" y="3110777"/>
            <a:ext cx="1586290" cy="33569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>
              <a:spcAft>
                <a:spcPts val="600"/>
              </a:spcAft>
            </a:pPr>
            <a:r>
              <a:rPr lang="en-US" b="1" u="sng" dirty="0">
                <a:solidFill>
                  <a:srgbClr val="C00000"/>
                </a:solidFill>
              </a:rPr>
              <a:t>Keyword Combination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Trans. Recovery AND Disaster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Stakeholder Concern AND Transportation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FF1C0CA-D171-6046-8D40-400A12AB53F0}"/>
              </a:ext>
            </a:extLst>
          </p:cNvPr>
          <p:cNvSpPr/>
          <p:nvPr/>
        </p:nvSpPr>
        <p:spPr>
          <a:xfrm>
            <a:off x="4618687" y="3110777"/>
            <a:ext cx="1586290" cy="335627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>
              <a:spcAft>
                <a:spcPts val="600"/>
              </a:spcAft>
            </a:pPr>
            <a:r>
              <a:rPr lang="en-US" b="1" u="sng" dirty="0">
                <a:solidFill>
                  <a:srgbClr val="C00000"/>
                </a:solidFill>
              </a:rPr>
              <a:t>Inclusion Criteria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Peer Reviewed Journals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Conference Papers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Public Documents</a:t>
            </a: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34AF381-C2FF-D9A8-39E1-63B5417CE5AE}"/>
              </a:ext>
            </a:extLst>
          </p:cNvPr>
          <p:cNvSpPr/>
          <p:nvPr/>
        </p:nvSpPr>
        <p:spPr>
          <a:xfrm>
            <a:off x="6350616" y="3110776"/>
            <a:ext cx="1586290" cy="335627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>
              <a:spcAft>
                <a:spcPts val="600"/>
              </a:spcAft>
            </a:pPr>
            <a:r>
              <a:rPr lang="en-US" b="1" u="sng" dirty="0">
                <a:solidFill>
                  <a:srgbClr val="C00000"/>
                </a:solidFill>
              </a:rPr>
              <a:t>Manual Review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Review to Ensure Relevance &amp; Quality</a:t>
            </a: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4749F31-C30F-E5FF-45C0-41D2B4F18801}"/>
              </a:ext>
            </a:extLst>
          </p:cNvPr>
          <p:cNvSpPr/>
          <p:nvPr/>
        </p:nvSpPr>
        <p:spPr>
          <a:xfrm>
            <a:off x="8145536" y="3111497"/>
            <a:ext cx="1586290" cy="335627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>
              <a:spcAft>
                <a:spcPts val="600"/>
              </a:spcAft>
            </a:pPr>
            <a:r>
              <a:rPr lang="en-US" b="1" u="sng" dirty="0">
                <a:solidFill>
                  <a:srgbClr val="C00000"/>
                </a:solidFill>
              </a:rPr>
              <a:t>Extracted Fields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Title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Keywords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Full Text</a:t>
            </a: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8B094F3-6C8C-5837-D660-2E166582CD7B}"/>
              </a:ext>
            </a:extLst>
          </p:cNvPr>
          <p:cNvSpPr/>
          <p:nvPr/>
        </p:nvSpPr>
        <p:spPr>
          <a:xfrm>
            <a:off x="9940456" y="3110776"/>
            <a:ext cx="1586290" cy="335627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>
              <a:spcAft>
                <a:spcPts val="600"/>
              </a:spcAft>
            </a:pPr>
            <a:r>
              <a:rPr lang="en-US" b="1" u="sng" dirty="0">
                <a:solidFill>
                  <a:srgbClr val="C00000"/>
                </a:solidFill>
              </a:rPr>
              <a:t>Summary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2"/>
              </a:solidFill>
            </a:endParaRP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20</a:t>
            </a:r>
            <a:r>
              <a:rPr lang="en-US" sz="1600" b="1" baseline="30000" dirty="0">
                <a:solidFill>
                  <a:schemeClr val="tx2"/>
                </a:solidFill>
              </a:rPr>
              <a:t>+</a:t>
            </a:r>
            <a:r>
              <a:rPr lang="en-US" sz="1600" b="1" dirty="0">
                <a:solidFill>
                  <a:schemeClr val="tx2"/>
                </a:solidFill>
              </a:rPr>
              <a:t> Papers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3 Text Fields</a:t>
            </a:r>
          </a:p>
          <a:p>
            <a:pPr marL="169863" indent="-1698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Completed CSV file for NLP</a:t>
            </a: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0CE3340-1C2C-8DC1-89F0-135FB513619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BFD"/>
              </a:clrFrom>
              <a:clrTo>
                <a:srgbClr val="F8FB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71072" y="1093311"/>
            <a:ext cx="669636" cy="64680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16EA66D-D08D-2FAD-081A-F1A09E14A36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DFE"/>
              </a:clrFrom>
              <a:clrTo>
                <a:srgbClr val="F7FD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80659" y="1102724"/>
            <a:ext cx="669296" cy="62798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3F90517-7A5E-E969-9ECF-B093915E011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BF5"/>
              </a:clrFrom>
              <a:clrTo>
                <a:srgbClr val="F7FB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27173" y="1094462"/>
            <a:ext cx="669296" cy="64450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6FDBF90-E09C-F63E-1DD2-F89A86BEDE9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9F2"/>
              </a:clrFrom>
              <a:clrTo>
                <a:srgbClr val="FEF9F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77763" y="1090621"/>
            <a:ext cx="604468" cy="65218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642B2DE-09E6-5425-0284-E2C01213805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9F9FD"/>
              </a:clrFrom>
              <a:clrTo>
                <a:srgbClr val="F9F9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63525" y="1125958"/>
            <a:ext cx="604468" cy="58151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AA4EAA4-79C9-DF62-3228-505F4EE6F76B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6F8FE"/>
              </a:clrFrom>
              <a:clrTo>
                <a:srgbClr val="F6F8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31367" y="1114482"/>
            <a:ext cx="604467" cy="60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6001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27BA9-CBF3-CDDB-5942-5A107B3CD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6708075-1B67-3A57-4216-D13356BE6D62}"/>
              </a:ext>
            </a:extLst>
          </p:cNvPr>
          <p:cNvSpPr/>
          <p:nvPr/>
        </p:nvSpPr>
        <p:spPr>
          <a:xfrm>
            <a:off x="0" y="0"/>
            <a:ext cx="530942" cy="993058"/>
          </a:xfrm>
          <a:prstGeom prst="rect">
            <a:avLst/>
          </a:prstGeom>
          <a:solidFill>
            <a:srgbClr val="004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DB2D18-6089-752F-6522-05D0F67E5FCA}"/>
              </a:ext>
            </a:extLst>
          </p:cNvPr>
          <p:cNvSpPr/>
          <p:nvPr/>
        </p:nvSpPr>
        <p:spPr>
          <a:xfrm>
            <a:off x="0" y="1061884"/>
            <a:ext cx="530942" cy="5796116"/>
          </a:xfrm>
          <a:prstGeom prst="rect">
            <a:avLst/>
          </a:prstGeom>
          <a:solidFill>
            <a:srgbClr val="0064A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D63258-9401-8369-62F7-05E71E6FE01E}"/>
              </a:ext>
            </a:extLst>
          </p:cNvPr>
          <p:cNvSpPr txBox="1"/>
          <p:nvPr/>
        </p:nvSpPr>
        <p:spPr>
          <a:xfrm rot="16200000">
            <a:off x="-2573901" y="3748773"/>
            <a:ext cx="5973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2400" dirty="0">
                <a:solidFill>
                  <a:schemeClr val="bg1"/>
                </a:solidFill>
                <a:latin typeface="Impact" panose="020B0806030902050204" pitchFamily="34" charset="0"/>
              </a:rPr>
              <a:t>Methodology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C0EFA4-A7AB-BACC-181A-7983BB57AD5A}"/>
              </a:ext>
            </a:extLst>
          </p:cNvPr>
          <p:cNvSpPr/>
          <p:nvPr/>
        </p:nvSpPr>
        <p:spPr>
          <a:xfrm>
            <a:off x="1028847" y="386490"/>
            <a:ext cx="3424207" cy="691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solidFill>
                  <a:srgbClr val="0064AF"/>
                </a:solidFill>
                <a:latin typeface="Arial Black" panose="020B0A040201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Methodology</a:t>
            </a:r>
            <a:endParaRPr lang="en-US" sz="2800" b="1" dirty="0">
              <a:solidFill>
                <a:srgbClr val="0064AF"/>
              </a:solidFill>
              <a:effectLst/>
              <a:latin typeface="Arial Black" panose="020B0A040201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2" descr="Image result for ut arlington logo">
            <a:extLst>
              <a:ext uri="{FF2B5EF4-FFF2-40B4-BE49-F238E27FC236}">
                <a16:creationId xmlns:a16="http://schemas.microsoft.com/office/drawing/2014/main" id="{748EE005-D945-8E6B-6A92-6366680F6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64B1"/>
              </a:clrFrom>
              <a:clrTo>
                <a:srgbClr val="0064B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7" y="489341"/>
            <a:ext cx="456959" cy="45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DE682900-456C-20EC-CCCE-B6BEDD46221B}"/>
              </a:ext>
            </a:extLst>
          </p:cNvPr>
          <p:cNvSpPr/>
          <p:nvPr/>
        </p:nvSpPr>
        <p:spPr>
          <a:xfrm rot="16200000">
            <a:off x="8254591" y="-3022731"/>
            <a:ext cx="96228" cy="7802042"/>
          </a:xfrm>
          <a:prstGeom prst="rect">
            <a:avLst/>
          </a:prstGeom>
          <a:solidFill>
            <a:srgbClr val="0064AF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10CD44-B228-6581-9357-2A7C8AE0124A}"/>
              </a:ext>
            </a:extLst>
          </p:cNvPr>
          <p:cNvSpPr txBox="1"/>
          <p:nvPr/>
        </p:nvSpPr>
        <p:spPr>
          <a:xfrm>
            <a:off x="11627510" y="6472786"/>
            <a:ext cx="525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B60A74-CF38-E89C-A7E9-7BD33D3E44D6}"/>
              </a:ext>
            </a:extLst>
          </p:cNvPr>
          <p:cNvSpPr/>
          <p:nvPr/>
        </p:nvSpPr>
        <p:spPr>
          <a:xfrm>
            <a:off x="825294" y="1521967"/>
            <a:ext cx="1784583" cy="4261423"/>
          </a:xfrm>
          <a:prstGeom prst="round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Data Collection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2"/>
                </a:solidFill>
              </a:rPr>
              <a:t>Literature Corpus Created from Academic Sources</a:t>
            </a:r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1B6EE14-D181-E187-154B-037238B2359E}"/>
              </a:ext>
            </a:extLst>
          </p:cNvPr>
          <p:cNvSpPr/>
          <p:nvPr/>
        </p:nvSpPr>
        <p:spPr>
          <a:xfrm>
            <a:off x="1230984" y="1828046"/>
            <a:ext cx="924230" cy="924230"/>
          </a:xfrm>
          <a:prstGeom prst="ellipse">
            <a:avLst/>
          </a:prstGeom>
          <a:solidFill>
            <a:srgbClr val="D4E1EB"/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EB4F9CE-CBE4-7D04-763C-6388E555D298}"/>
              </a:ext>
            </a:extLst>
          </p:cNvPr>
          <p:cNvCxnSpPr/>
          <p:nvPr/>
        </p:nvCxnSpPr>
        <p:spPr>
          <a:xfrm>
            <a:off x="985297" y="3606284"/>
            <a:ext cx="1475054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99AAAFD-B094-13C6-2A18-73DB8F5CF5CF}"/>
              </a:ext>
            </a:extLst>
          </p:cNvPr>
          <p:cNvSpPr/>
          <p:nvPr/>
        </p:nvSpPr>
        <p:spPr>
          <a:xfrm>
            <a:off x="2689192" y="1521967"/>
            <a:ext cx="1784583" cy="4261423"/>
          </a:xfrm>
          <a:prstGeom prst="round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Pre-Processing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marL="169863" indent="-169863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Cleaning</a:t>
            </a:r>
          </a:p>
          <a:p>
            <a:pPr marL="169863" indent="-169863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Normalization</a:t>
            </a:r>
          </a:p>
          <a:p>
            <a:pPr marL="169863" indent="-169863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Tokenization</a:t>
            </a:r>
          </a:p>
          <a:p>
            <a:pPr marL="169863" indent="-169863" algn="ctr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2"/>
                </a:solidFill>
              </a:rPr>
              <a:t>Stopword</a:t>
            </a:r>
            <a:r>
              <a:rPr lang="en-US" b="1" dirty="0">
                <a:solidFill>
                  <a:schemeClr val="tx2"/>
                </a:solidFill>
              </a:rPr>
              <a:t> Removal</a:t>
            </a:r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CE40EB0-5CC7-3909-4E0C-B1F54EEC1CB7}"/>
              </a:ext>
            </a:extLst>
          </p:cNvPr>
          <p:cNvCxnSpPr/>
          <p:nvPr/>
        </p:nvCxnSpPr>
        <p:spPr>
          <a:xfrm>
            <a:off x="2849195" y="3606284"/>
            <a:ext cx="1475054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2C50B1A0-FB6C-4F17-7A53-A6F941457F18}"/>
              </a:ext>
            </a:extLst>
          </p:cNvPr>
          <p:cNvSpPr/>
          <p:nvPr/>
        </p:nvSpPr>
        <p:spPr>
          <a:xfrm>
            <a:off x="4553090" y="1521967"/>
            <a:ext cx="1784583" cy="4261423"/>
          </a:xfrm>
          <a:prstGeom prst="round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Modeling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 err="1">
                <a:solidFill>
                  <a:schemeClr val="tx2"/>
                </a:solidFill>
              </a:rPr>
              <a:t>KeyBERT</a:t>
            </a:r>
            <a:r>
              <a:rPr lang="en-US" b="1" dirty="0">
                <a:solidFill>
                  <a:schemeClr val="tx2"/>
                </a:solidFill>
              </a:rPr>
              <a:t>-based </a:t>
            </a:r>
            <a:r>
              <a:rPr lang="en-US" b="1" dirty="0" err="1">
                <a:solidFill>
                  <a:schemeClr val="tx2"/>
                </a:solidFill>
              </a:rPr>
              <a:t>KeyPhrase</a:t>
            </a:r>
            <a:r>
              <a:rPr lang="en-US" b="1" dirty="0">
                <a:solidFill>
                  <a:schemeClr val="tx2"/>
                </a:solidFill>
              </a:rPr>
              <a:t> Extraction &amp; Stakeholder Value Mapping</a:t>
            </a:r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9FC3904-0AE3-09D6-4764-74D61B4F70F1}"/>
              </a:ext>
            </a:extLst>
          </p:cNvPr>
          <p:cNvCxnSpPr/>
          <p:nvPr/>
        </p:nvCxnSpPr>
        <p:spPr>
          <a:xfrm>
            <a:off x="4713093" y="3606284"/>
            <a:ext cx="1475054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3E939728-19DA-E5C8-4004-57AC5D2B39D5}"/>
              </a:ext>
            </a:extLst>
          </p:cNvPr>
          <p:cNvSpPr/>
          <p:nvPr/>
        </p:nvSpPr>
        <p:spPr>
          <a:xfrm>
            <a:off x="6416988" y="1521967"/>
            <a:ext cx="1784583" cy="4261423"/>
          </a:xfrm>
          <a:prstGeom prst="round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Evaluation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Precision @10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Support Ranking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Relevance Assessment</a:t>
            </a:r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A1BD69C-F1EB-0206-2AF5-F43819209A60}"/>
              </a:ext>
            </a:extLst>
          </p:cNvPr>
          <p:cNvCxnSpPr/>
          <p:nvPr/>
        </p:nvCxnSpPr>
        <p:spPr>
          <a:xfrm>
            <a:off x="6576991" y="3606284"/>
            <a:ext cx="1475054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CEEC5DCD-A449-5F48-FFBD-AE2C19058205}"/>
              </a:ext>
            </a:extLst>
          </p:cNvPr>
          <p:cNvSpPr/>
          <p:nvPr/>
        </p:nvSpPr>
        <p:spPr>
          <a:xfrm>
            <a:off x="8280886" y="1521967"/>
            <a:ext cx="1784583" cy="4261423"/>
          </a:xfrm>
          <a:prstGeom prst="round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Visualization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Bar Charts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Category Rankings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Key Insights</a:t>
            </a:r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6407B7E-CF6E-11E4-7907-FDBEC83CAB8E}"/>
              </a:ext>
            </a:extLst>
          </p:cNvPr>
          <p:cNvCxnSpPr/>
          <p:nvPr/>
        </p:nvCxnSpPr>
        <p:spPr>
          <a:xfrm>
            <a:off x="8440889" y="3606284"/>
            <a:ext cx="1475054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BAC2648B-10B2-0778-21BC-234C26AAB0D7}"/>
              </a:ext>
            </a:extLst>
          </p:cNvPr>
          <p:cNvSpPr/>
          <p:nvPr/>
        </p:nvSpPr>
        <p:spPr>
          <a:xfrm>
            <a:off x="10144784" y="1521967"/>
            <a:ext cx="1784583" cy="4261423"/>
          </a:xfrm>
          <a:prstGeom prst="round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Robustness Check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Sensibility Analysis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Parameter Variation</a:t>
            </a: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Stability of Results</a:t>
            </a:r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76BB307-0E6A-B4F7-42C2-F5FC8C6959E0}"/>
              </a:ext>
            </a:extLst>
          </p:cNvPr>
          <p:cNvCxnSpPr/>
          <p:nvPr/>
        </p:nvCxnSpPr>
        <p:spPr>
          <a:xfrm>
            <a:off x="10304787" y="3606284"/>
            <a:ext cx="1475054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DD01901-95C4-30C8-82CF-24A0960FD4C5}"/>
              </a:ext>
            </a:extLst>
          </p:cNvPr>
          <p:cNvCxnSpPr>
            <a:stCxn id="19" idx="6"/>
          </p:cNvCxnSpPr>
          <p:nvPr/>
        </p:nvCxnSpPr>
        <p:spPr>
          <a:xfrm>
            <a:off x="2155214" y="2290161"/>
            <a:ext cx="8857375" cy="0"/>
          </a:xfrm>
          <a:prstGeom prst="line">
            <a:avLst/>
          </a:prstGeom>
          <a:ln w="31750">
            <a:solidFill>
              <a:srgbClr val="CA70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4FDAD2DC-DC2C-4C51-D668-903D860615D9}"/>
              </a:ext>
            </a:extLst>
          </p:cNvPr>
          <p:cNvSpPr/>
          <p:nvPr/>
        </p:nvSpPr>
        <p:spPr>
          <a:xfrm>
            <a:off x="3121976" y="1828046"/>
            <a:ext cx="924230" cy="924230"/>
          </a:xfrm>
          <a:prstGeom prst="ellipse">
            <a:avLst/>
          </a:prstGeom>
          <a:solidFill>
            <a:srgbClr val="D4E1EB"/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BDE4D2A-1F85-8E36-1387-1D1F3AF797EE}"/>
              </a:ext>
            </a:extLst>
          </p:cNvPr>
          <p:cNvSpPr/>
          <p:nvPr/>
        </p:nvSpPr>
        <p:spPr>
          <a:xfrm>
            <a:off x="4952006" y="1828046"/>
            <a:ext cx="924230" cy="924230"/>
          </a:xfrm>
          <a:prstGeom prst="ellipse">
            <a:avLst/>
          </a:prstGeom>
          <a:solidFill>
            <a:srgbClr val="D4E1EB"/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F71AAFA-3274-CD60-24A8-347139FC2ECF}"/>
              </a:ext>
            </a:extLst>
          </p:cNvPr>
          <p:cNvSpPr/>
          <p:nvPr/>
        </p:nvSpPr>
        <p:spPr>
          <a:xfrm>
            <a:off x="6822677" y="1828046"/>
            <a:ext cx="924230" cy="924230"/>
          </a:xfrm>
          <a:prstGeom prst="ellipse">
            <a:avLst/>
          </a:prstGeom>
          <a:solidFill>
            <a:srgbClr val="D4E1EB"/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2978E0C-4A16-8B15-F345-4BA39A6D2B4A}"/>
              </a:ext>
            </a:extLst>
          </p:cNvPr>
          <p:cNvSpPr/>
          <p:nvPr/>
        </p:nvSpPr>
        <p:spPr>
          <a:xfrm>
            <a:off x="8713666" y="1828046"/>
            <a:ext cx="924230" cy="924230"/>
          </a:xfrm>
          <a:prstGeom prst="ellipse">
            <a:avLst/>
          </a:prstGeom>
          <a:solidFill>
            <a:srgbClr val="D4E1EB"/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AD1CE66-B1A2-4CDD-998B-68B642E6FCE1}"/>
              </a:ext>
            </a:extLst>
          </p:cNvPr>
          <p:cNvSpPr/>
          <p:nvPr/>
        </p:nvSpPr>
        <p:spPr>
          <a:xfrm>
            <a:off x="10591115" y="1828046"/>
            <a:ext cx="924230" cy="924230"/>
          </a:xfrm>
          <a:prstGeom prst="ellipse">
            <a:avLst/>
          </a:prstGeom>
          <a:solidFill>
            <a:srgbClr val="D4E1EB"/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4B0E00B7-5B4C-07B1-22FB-458267FB60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7028" y="1828046"/>
            <a:ext cx="950608" cy="835382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CA3BA813-E77D-4D49-E11E-C494F52DB9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22927" y="1978810"/>
            <a:ext cx="559925" cy="617848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D1695B92-418B-F12D-649D-4A668DFD54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1126" y="2008147"/>
            <a:ext cx="638698" cy="51782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91118694-1B76-1E56-A142-56EAA9E4F8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20332" y="2008147"/>
            <a:ext cx="562488" cy="562488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C9724CE5-F90D-98B2-6968-CEB5B80A424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14534" y="2050285"/>
            <a:ext cx="528136" cy="43354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058785F0-B9D8-5CF4-AE42-C4CD22084DF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29046" y="2023899"/>
            <a:ext cx="469251" cy="48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3781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1750-5EB5-D49A-423C-50FBA7F32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60BEDD6-EFAB-0AC7-B870-6AE76434CD97}"/>
              </a:ext>
            </a:extLst>
          </p:cNvPr>
          <p:cNvSpPr/>
          <p:nvPr/>
        </p:nvSpPr>
        <p:spPr>
          <a:xfrm>
            <a:off x="0" y="0"/>
            <a:ext cx="530942" cy="993058"/>
          </a:xfrm>
          <a:prstGeom prst="rect">
            <a:avLst/>
          </a:prstGeom>
          <a:solidFill>
            <a:srgbClr val="004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91CF6E-89AB-1822-53E5-B3E9FA7BFE58}"/>
              </a:ext>
            </a:extLst>
          </p:cNvPr>
          <p:cNvSpPr/>
          <p:nvPr/>
        </p:nvSpPr>
        <p:spPr>
          <a:xfrm>
            <a:off x="0" y="1061884"/>
            <a:ext cx="530942" cy="5796116"/>
          </a:xfrm>
          <a:prstGeom prst="rect">
            <a:avLst/>
          </a:prstGeom>
          <a:solidFill>
            <a:srgbClr val="0064A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015823-2E1D-0CB6-BEB3-B6A771CF4B95}"/>
              </a:ext>
            </a:extLst>
          </p:cNvPr>
          <p:cNvSpPr txBox="1"/>
          <p:nvPr/>
        </p:nvSpPr>
        <p:spPr>
          <a:xfrm rot="16200000">
            <a:off x="-2573901" y="3748773"/>
            <a:ext cx="5973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2400" dirty="0" err="1">
                <a:solidFill>
                  <a:schemeClr val="bg1"/>
                </a:solidFill>
                <a:latin typeface="Impact" panose="020B0806030902050204" pitchFamily="34" charset="0"/>
              </a:rPr>
              <a:t>KeyBERT</a:t>
            </a:r>
            <a:r>
              <a:rPr lang="en-US" sz="2400" dirty="0">
                <a:solidFill>
                  <a:schemeClr val="bg1"/>
                </a:solidFill>
                <a:latin typeface="Impact" panose="020B0806030902050204" pitchFamily="34" charset="0"/>
              </a:rPr>
              <a:t> Framework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C97AEE-7F52-B158-6F85-73D7FFBCFDA0}"/>
              </a:ext>
            </a:extLst>
          </p:cNvPr>
          <p:cNvSpPr/>
          <p:nvPr/>
        </p:nvSpPr>
        <p:spPr>
          <a:xfrm>
            <a:off x="1028847" y="386490"/>
            <a:ext cx="8963479" cy="691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 err="1">
                <a:solidFill>
                  <a:srgbClr val="0064AF"/>
                </a:solidFill>
                <a:effectLst/>
                <a:latin typeface="Arial Black" panose="020B0A040201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KeyBERT</a:t>
            </a:r>
            <a:r>
              <a:rPr lang="en-US" sz="3600" b="1" dirty="0">
                <a:solidFill>
                  <a:srgbClr val="0064AF"/>
                </a:solidFill>
                <a:effectLst/>
                <a:latin typeface="Arial Black" panose="020B0A040201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Framework Development</a:t>
            </a:r>
            <a:endParaRPr lang="en-US" sz="2800" b="1" dirty="0">
              <a:solidFill>
                <a:srgbClr val="0064AF"/>
              </a:solidFill>
              <a:effectLst/>
              <a:latin typeface="Arial Black" panose="020B0A040201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2" descr="Image result for ut arlington logo">
            <a:extLst>
              <a:ext uri="{FF2B5EF4-FFF2-40B4-BE49-F238E27FC236}">
                <a16:creationId xmlns:a16="http://schemas.microsoft.com/office/drawing/2014/main" id="{9A970D27-D456-6CDC-5296-85537BE54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64B1"/>
              </a:clrFrom>
              <a:clrTo>
                <a:srgbClr val="0064B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7" y="489341"/>
            <a:ext cx="456959" cy="45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418E610-F98A-BAC5-7C74-7C735A6C8F00}"/>
              </a:ext>
            </a:extLst>
          </p:cNvPr>
          <p:cNvSpPr/>
          <p:nvPr/>
        </p:nvSpPr>
        <p:spPr>
          <a:xfrm rot="16200000">
            <a:off x="10966321" y="-291105"/>
            <a:ext cx="116124" cy="2358686"/>
          </a:xfrm>
          <a:prstGeom prst="rect">
            <a:avLst/>
          </a:prstGeom>
          <a:solidFill>
            <a:srgbClr val="0064AF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1BCFCF-B6DD-383D-966E-B4415FCACC89}"/>
              </a:ext>
            </a:extLst>
          </p:cNvPr>
          <p:cNvSpPr txBox="1"/>
          <p:nvPr/>
        </p:nvSpPr>
        <p:spPr>
          <a:xfrm>
            <a:off x="11627510" y="6472786"/>
            <a:ext cx="525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8E92B9-4259-06C2-4B35-6F7B3F487782}"/>
              </a:ext>
            </a:extLst>
          </p:cNvPr>
          <p:cNvSpPr/>
          <p:nvPr/>
        </p:nvSpPr>
        <p:spPr>
          <a:xfrm>
            <a:off x="712756" y="1262034"/>
            <a:ext cx="6063601" cy="49817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1. </a:t>
            </a:r>
            <a:r>
              <a:rPr lang="en-US" sz="2400" b="1" dirty="0">
                <a:solidFill>
                  <a:srgbClr val="C00000"/>
                </a:solidFill>
              </a:rPr>
              <a:t>Text Corpus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Input</a:t>
            </a:r>
          </a:p>
          <a:p>
            <a:pPr marL="274320">
              <a:spcAft>
                <a:spcPts val="600"/>
              </a:spcAft>
              <a:tabLst>
                <a:tab pos="284163" algn="l"/>
              </a:tabLst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Merged title +  keywords + full text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2. </a:t>
            </a:r>
            <a:r>
              <a:rPr lang="en-US" sz="2400" b="1" dirty="0">
                <a:solidFill>
                  <a:srgbClr val="C00000"/>
                </a:solidFill>
              </a:rPr>
              <a:t>Candidate Phrase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Generation</a:t>
            </a:r>
          </a:p>
          <a:p>
            <a:pPr marL="274320">
              <a:spcAft>
                <a:spcPts val="600"/>
              </a:spcAft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Create 1-3 gram phrase candidates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3. </a:t>
            </a:r>
            <a:r>
              <a:rPr lang="en-US" sz="2400" b="1" dirty="0">
                <a:solidFill>
                  <a:srgbClr val="C00000"/>
                </a:solidFill>
              </a:rPr>
              <a:t>Embedding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Processing</a:t>
            </a:r>
          </a:p>
          <a:p>
            <a:pPr marL="274320">
              <a:spcAft>
                <a:spcPts val="600"/>
              </a:spcAft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Generate semantic vectors using  sentence transformer (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miniLM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4. </a:t>
            </a:r>
            <a:r>
              <a:rPr lang="en-US" sz="2400" b="1" dirty="0">
                <a:solidFill>
                  <a:srgbClr val="C00000"/>
                </a:solidFill>
              </a:rPr>
              <a:t>Similarity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Ranking</a:t>
            </a:r>
          </a:p>
          <a:p>
            <a:pPr marL="274320">
              <a:spcAft>
                <a:spcPts val="600"/>
              </a:spcAft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Use cosine similarity between document and phrase embeddings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5. </a:t>
            </a:r>
            <a:r>
              <a:rPr lang="en-US" sz="2400" b="1" dirty="0">
                <a:solidFill>
                  <a:srgbClr val="C00000"/>
                </a:solidFill>
              </a:rPr>
              <a:t>Output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Derivation</a:t>
            </a:r>
          </a:p>
          <a:p>
            <a:pPr marL="274320">
              <a:spcAft>
                <a:spcPts val="600"/>
              </a:spcAft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Return top ranked phrases and map to stakeholder value categories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0A24AD-ADCD-CF4E-7558-BB7A88CD2391}"/>
              </a:ext>
            </a:extLst>
          </p:cNvPr>
          <p:cNvSpPr/>
          <p:nvPr/>
        </p:nvSpPr>
        <p:spPr>
          <a:xfrm>
            <a:off x="6845634" y="1358420"/>
            <a:ext cx="4533566" cy="4805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Transportation Text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0DB05D-5497-8F8E-9644-41BE957D1A64}"/>
              </a:ext>
            </a:extLst>
          </p:cNvPr>
          <p:cNvSpPr/>
          <p:nvPr/>
        </p:nvSpPr>
        <p:spPr>
          <a:xfrm>
            <a:off x="6845633" y="1957039"/>
            <a:ext cx="4533566" cy="4805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Candidate Phrases (resilience, recovery…)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8C43DF-B6C6-065F-5F02-CBC67868F4FF}"/>
              </a:ext>
            </a:extLst>
          </p:cNvPr>
          <p:cNvSpPr/>
          <p:nvPr/>
        </p:nvSpPr>
        <p:spPr>
          <a:xfrm>
            <a:off x="6845633" y="2555658"/>
            <a:ext cx="4533566" cy="4805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Transformer Encoder (all- MiniLM-L6–v2)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1179F9-9F03-4ADE-9FA9-A34C272B9D9C}"/>
              </a:ext>
            </a:extLst>
          </p:cNvPr>
          <p:cNvSpPr/>
          <p:nvPr/>
        </p:nvSpPr>
        <p:spPr>
          <a:xfrm>
            <a:off x="6845633" y="3154277"/>
            <a:ext cx="4533566" cy="4805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Similarity Ranking (cosine similarity)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F1AE2E-CA7E-B875-EDED-23B74AD9634B}"/>
              </a:ext>
            </a:extLst>
          </p:cNvPr>
          <p:cNvSpPr/>
          <p:nvPr/>
        </p:nvSpPr>
        <p:spPr>
          <a:xfrm>
            <a:off x="6845633" y="3752896"/>
            <a:ext cx="4533566" cy="4805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Top Key-Phrases (ranked outputs)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F9CFC8-37E4-B06F-B6A5-0291B2C0EDAC}"/>
              </a:ext>
            </a:extLst>
          </p:cNvPr>
          <p:cNvSpPr/>
          <p:nvPr/>
        </p:nvSpPr>
        <p:spPr>
          <a:xfrm>
            <a:off x="6845633" y="4351515"/>
            <a:ext cx="4533566" cy="4805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Value Categories (equity, safety…)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067C85A-A0F5-6771-DB3C-F24AF67B0DE8}"/>
              </a:ext>
            </a:extLst>
          </p:cNvPr>
          <p:cNvSpPr/>
          <p:nvPr/>
        </p:nvSpPr>
        <p:spPr>
          <a:xfrm>
            <a:off x="11511975" y="1389986"/>
            <a:ext cx="246990" cy="3442069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711EDA2-15B7-DA9A-6FEB-418C766E0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309295"/>
              </p:ext>
            </p:extLst>
          </p:nvPr>
        </p:nvGraphicFramePr>
        <p:xfrm>
          <a:off x="6845633" y="4988150"/>
          <a:ext cx="453356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783">
                  <a:extLst>
                    <a:ext uri="{9D8B030D-6E8A-4147-A177-3AD203B41FA5}">
                      <a16:colId xmlns:a16="http://schemas.microsoft.com/office/drawing/2014/main" val="3771956037"/>
                    </a:ext>
                  </a:extLst>
                </a:gridCol>
                <a:gridCol w="2266783">
                  <a:extLst>
                    <a:ext uri="{9D8B030D-6E8A-4147-A177-3AD203B41FA5}">
                      <a16:colId xmlns:a16="http://schemas.microsoft.com/office/drawing/2014/main" val="3620544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Parameter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777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Top_n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10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ngram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510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785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50826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A34F8-399A-850A-1890-2D7657410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16A6DD7-63A8-0BC6-A33B-99740AD0F46E}"/>
              </a:ext>
            </a:extLst>
          </p:cNvPr>
          <p:cNvSpPr/>
          <p:nvPr/>
        </p:nvSpPr>
        <p:spPr>
          <a:xfrm>
            <a:off x="0" y="0"/>
            <a:ext cx="530942" cy="993058"/>
          </a:xfrm>
          <a:prstGeom prst="rect">
            <a:avLst/>
          </a:prstGeom>
          <a:solidFill>
            <a:srgbClr val="004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14F649-508A-1977-9EE3-29F76AD31E6B}"/>
              </a:ext>
            </a:extLst>
          </p:cNvPr>
          <p:cNvSpPr/>
          <p:nvPr/>
        </p:nvSpPr>
        <p:spPr>
          <a:xfrm>
            <a:off x="0" y="1061884"/>
            <a:ext cx="530942" cy="5796116"/>
          </a:xfrm>
          <a:prstGeom prst="rect">
            <a:avLst/>
          </a:prstGeom>
          <a:solidFill>
            <a:srgbClr val="0064A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04E59F-1AAF-E39C-49FE-D56ABC45B520}"/>
              </a:ext>
            </a:extLst>
          </p:cNvPr>
          <p:cNvSpPr txBox="1"/>
          <p:nvPr/>
        </p:nvSpPr>
        <p:spPr>
          <a:xfrm rot="16200000">
            <a:off x="-2573901" y="3748773"/>
            <a:ext cx="5973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2400" dirty="0">
                <a:solidFill>
                  <a:schemeClr val="bg1"/>
                </a:solidFill>
                <a:latin typeface="Impact" panose="020B0806030902050204" pitchFamily="34" charset="0"/>
              </a:rPr>
              <a:t>Validation &amp; Robustness Check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E1DC73-39FF-A9B6-3457-769EFC0B7B95}"/>
              </a:ext>
            </a:extLst>
          </p:cNvPr>
          <p:cNvSpPr/>
          <p:nvPr/>
        </p:nvSpPr>
        <p:spPr>
          <a:xfrm>
            <a:off x="1028847" y="386490"/>
            <a:ext cx="9780819" cy="691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solidFill>
                  <a:srgbClr val="0064AF"/>
                </a:solidFill>
                <a:latin typeface="Arial Black" panose="020B0A040201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Model Validation &amp; Robustness Check</a:t>
            </a:r>
            <a:endParaRPr lang="en-US" sz="2800" b="1" dirty="0">
              <a:solidFill>
                <a:srgbClr val="0064AF"/>
              </a:solidFill>
              <a:effectLst/>
              <a:latin typeface="Arial Black" panose="020B0A040201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2" descr="Image result for ut arlington logo">
            <a:extLst>
              <a:ext uri="{FF2B5EF4-FFF2-40B4-BE49-F238E27FC236}">
                <a16:creationId xmlns:a16="http://schemas.microsoft.com/office/drawing/2014/main" id="{F05E5FE4-4D74-3738-FC43-94561E485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64B1"/>
              </a:clrFrom>
              <a:clrTo>
                <a:srgbClr val="0064B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7" y="489341"/>
            <a:ext cx="456959" cy="45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4EFE6B10-19DF-324F-C3FA-73025184B26E}"/>
              </a:ext>
            </a:extLst>
          </p:cNvPr>
          <p:cNvSpPr/>
          <p:nvPr/>
        </p:nvSpPr>
        <p:spPr>
          <a:xfrm rot="16200000">
            <a:off x="11357328" y="99902"/>
            <a:ext cx="116125" cy="1576670"/>
          </a:xfrm>
          <a:prstGeom prst="rect">
            <a:avLst/>
          </a:prstGeom>
          <a:solidFill>
            <a:srgbClr val="0064AF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880FB6-13DA-3BD5-1EF2-D02E337CB6DE}"/>
              </a:ext>
            </a:extLst>
          </p:cNvPr>
          <p:cNvSpPr txBox="1"/>
          <p:nvPr/>
        </p:nvSpPr>
        <p:spPr>
          <a:xfrm>
            <a:off x="11627510" y="6472786"/>
            <a:ext cx="525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9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F6E05717-F873-BAAB-4E0A-94AB583BF93B}"/>
              </a:ext>
            </a:extLst>
          </p:cNvPr>
          <p:cNvSpPr/>
          <p:nvPr/>
        </p:nvSpPr>
        <p:spPr>
          <a:xfrm>
            <a:off x="825294" y="1282862"/>
            <a:ext cx="4081233" cy="585383"/>
          </a:xfrm>
          <a:prstGeom prst="round2SameRect">
            <a:avLst/>
          </a:prstGeom>
          <a:solidFill>
            <a:srgbClr val="002060"/>
          </a:solidFill>
          <a:ln w="28575">
            <a:solidFill>
              <a:srgbClr val="002060"/>
            </a:solidFill>
            <a:prstDash val="lg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Manual Precision @10 Review</a:t>
            </a:r>
            <a:endParaRPr lang="en-US" sz="24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F9C2D0-9745-A7F6-C0B2-79D24B656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731496"/>
              </p:ext>
            </p:extLst>
          </p:nvPr>
        </p:nvGraphicFramePr>
        <p:xfrm>
          <a:off x="802798" y="2072824"/>
          <a:ext cx="4137502" cy="453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751">
                  <a:extLst>
                    <a:ext uri="{9D8B030D-6E8A-4147-A177-3AD203B41FA5}">
                      <a16:colId xmlns:a16="http://schemas.microsoft.com/office/drawing/2014/main" val="2425337755"/>
                    </a:ext>
                  </a:extLst>
                </a:gridCol>
                <a:gridCol w="2068751">
                  <a:extLst>
                    <a:ext uri="{9D8B030D-6E8A-4147-A177-3AD203B41FA5}">
                      <a16:colId xmlns:a16="http://schemas.microsoft.com/office/drawing/2014/main" val="1313807878"/>
                    </a:ext>
                  </a:extLst>
                </a:gridCol>
              </a:tblGrid>
              <a:tr h="56639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Category</a:t>
                      </a: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Precision @10</a:t>
                      </a: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096191"/>
                  </a:ext>
                </a:extLst>
              </a:tr>
              <a:tr h="56639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Sustainability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1.00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180845"/>
                  </a:ext>
                </a:extLst>
              </a:tr>
              <a:tr h="56639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Adaptability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1.00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785630"/>
                  </a:ext>
                </a:extLst>
              </a:tr>
              <a:tr h="56639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Responsiveness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1.00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183292"/>
                  </a:ext>
                </a:extLst>
              </a:tr>
              <a:tr h="56639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Recoverability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0.90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362698"/>
                  </a:ext>
                </a:extLst>
              </a:tr>
              <a:tr h="56639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Safety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0.83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484837"/>
                  </a:ext>
                </a:extLst>
              </a:tr>
              <a:tr h="56639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Equity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0.80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368844"/>
                  </a:ext>
                </a:extLst>
              </a:tr>
              <a:tr h="56639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Accessibility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0.70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664284"/>
                  </a:ext>
                </a:extLst>
              </a:tr>
            </a:tbl>
          </a:graphicData>
        </a:graphic>
      </p:graphicFrame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212041B9-0D9D-050D-2CB8-EBB1E64CD358}"/>
              </a:ext>
            </a:extLst>
          </p:cNvPr>
          <p:cNvSpPr/>
          <p:nvPr/>
        </p:nvSpPr>
        <p:spPr>
          <a:xfrm>
            <a:off x="6234123" y="1278554"/>
            <a:ext cx="5110648" cy="585383"/>
          </a:xfrm>
          <a:prstGeom prst="round2SameRect">
            <a:avLst/>
          </a:prstGeom>
          <a:solidFill>
            <a:srgbClr val="002060"/>
          </a:solidFill>
          <a:ln w="28575">
            <a:solidFill>
              <a:srgbClr val="002060"/>
            </a:solidFill>
            <a:prstDash val="lg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Parameter Stability Checks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6DE8E3-08A8-F301-741A-7FFCD128DDD3}"/>
              </a:ext>
            </a:extLst>
          </p:cNvPr>
          <p:cNvSpPr/>
          <p:nvPr/>
        </p:nvSpPr>
        <p:spPr>
          <a:xfrm>
            <a:off x="6234123" y="2009812"/>
            <a:ext cx="5110648" cy="5853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</a:rPr>
              <a:t>Alternative extraction settings were tested (e.g. </a:t>
            </a:r>
            <a:r>
              <a:rPr lang="en-US" altLang="en-US" sz="2000" b="1" dirty="0" err="1">
                <a:solidFill>
                  <a:srgbClr val="C00000"/>
                </a:solidFill>
              </a:rPr>
              <a:t>top_n</a:t>
            </a:r>
            <a:r>
              <a:rPr lang="en-US" altLang="en-US" sz="2000" b="1" dirty="0">
                <a:solidFill>
                  <a:srgbClr val="C00000"/>
                </a:solidFill>
              </a:rPr>
              <a:t>, diversity</a:t>
            </a: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</a:rPr>
              <a:t>)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894A02-E59A-14E3-D465-1D3B5B9197E8}"/>
              </a:ext>
            </a:extLst>
          </p:cNvPr>
          <p:cNvSpPr/>
          <p:nvPr/>
        </p:nvSpPr>
        <p:spPr>
          <a:xfrm>
            <a:off x="6234123" y="2661187"/>
            <a:ext cx="5110648" cy="58538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</a:rPr>
              <a:t>Core category </a:t>
            </a:r>
            <a:r>
              <a:rPr lang="en-US" altLang="en-US" sz="2000" b="1" dirty="0">
                <a:solidFill>
                  <a:srgbClr val="C00000"/>
                </a:solidFill>
              </a:rPr>
              <a:t>rankings remained consistent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B16F1B8-7358-5CD8-FA3D-AE2A04373BA3}"/>
              </a:ext>
            </a:extLst>
          </p:cNvPr>
          <p:cNvSpPr/>
          <p:nvPr/>
        </p:nvSpPr>
        <p:spPr>
          <a:xfrm>
            <a:off x="6234123" y="3312560"/>
            <a:ext cx="5110648" cy="72603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C00000"/>
                </a:solidFill>
              </a:rPr>
              <a:t>Sustainability and Adaptability </a:t>
            </a: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</a:rPr>
              <a:t>remained dominant themes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A0218FA-03DD-8071-C3AB-7216DA1726EC}"/>
              </a:ext>
            </a:extLst>
          </p:cNvPr>
          <p:cNvSpPr/>
          <p:nvPr/>
        </p:nvSpPr>
        <p:spPr>
          <a:xfrm>
            <a:off x="6234123" y="4104589"/>
            <a:ext cx="5110648" cy="58538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</a:rPr>
              <a:t>Indicates </a:t>
            </a:r>
            <a:r>
              <a:rPr lang="en-US" altLang="en-US" sz="2000" b="1" dirty="0">
                <a:solidFill>
                  <a:srgbClr val="C00000"/>
                </a:solidFill>
              </a:rPr>
              <a:t>stable and reliable </a:t>
            </a: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</a:rPr>
              <a:t>unsupervised framework behavior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92DA1D7-AEC7-DCB2-1066-047C91525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01839" y="1247344"/>
            <a:ext cx="542469" cy="56219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BB78915-62E2-FA02-C3ED-B46F00A3A7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4154" y="2009812"/>
            <a:ext cx="517840" cy="58538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FF33C8E-FF7E-D226-2764-649297A2DB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4154" y="2661187"/>
            <a:ext cx="517840" cy="58538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EC515A-5E3E-6E8B-E711-88A4B8DFF1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4154" y="3394221"/>
            <a:ext cx="517840" cy="58538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0D06DD9-F7B2-4901-047D-077AECEF1F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4154" y="4104589"/>
            <a:ext cx="517840" cy="585384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D7A6846-7297-AC5F-1A23-D687C127E0F1}"/>
              </a:ext>
            </a:extLst>
          </p:cNvPr>
          <p:cNvSpPr/>
          <p:nvPr/>
        </p:nvSpPr>
        <p:spPr>
          <a:xfrm>
            <a:off x="6234123" y="5156755"/>
            <a:ext cx="5155079" cy="144477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Overall Validation Result:</a:t>
            </a:r>
          </a:p>
          <a:p>
            <a:pPr algn="ctr"/>
            <a:r>
              <a:rPr lang="en-US" sz="2000" b="1" dirty="0" err="1"/>
              <a:t>KeyBERT</a:t>
            </a:r>
            <a:r>
              <a:rPr lang="en-US" sz="2000" b="1" dirty="0"/>
              <a:t> produced relevant, interpretable, and stable stakeholder-value outputs</a:t>
            </a:r>
            <a:endParaRPr lang="en-US" sz="2000" b="1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AD7FCDD-1C75-8BF3-D381-A23F7C6C863F}"/>
              </a:ext>
            </a:extLst>
          </p:cNvPr>
          <p:cNvCxnSpPr/>
          <p:nvPr/>
        </p:nvCxnSpPr>
        <p:spPr>
          <a:xfrm>
            <a:off x="5514154" y="4914900"/>
            <a:ext cx="6000818" cy="0"/>
          </a:xfrm>
          <a:prstGeom prst="line">
            <a:avLst/>
          </a:prstGeom>
          <a:ln w="3175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69218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F37E6-415B-736B-0E58-6AC24A9FF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420A876-6C74-91C3-4752-3287221D7A73}"/>
              </a:ext>
            </a:extLst>
          </p:cNvPr>
          <p:cNvSpPr/>
          <p:nvPr/>
        </p:nvSpPr>
        <p:spPr>
          <a:xfrm>
            <a:off x="0" y="0"/>
            <a:ext cx="530942" cy="993058"/>
          </a:xfrm>
          <a:prstGeom prst="rect">
            <a:avLst/>
          </a:prstGeom>
          <a:solidFill>
            <a:srgbClr val="004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D0BFBD-1604-A6DD-4DEF-C60DCCD939C3}"/>
              </a:ext>
            </a:extLst>
          </p:cNvPr>
          <p:cNvSpPr/>
          <p:nvPr/>
        </p:nvSpPr>
        <p:spPr>
          <a:xfrm>
            <a:off x="0" y="1061884"/>
            <a:ext cx="530942" cy="5796116"/>
          </a:xfrm>
          <a:prstGeom prst="rect">
            <a:avLst/>
          </a:prstGeom>
          <a:solidFill>
            <a:srgbClr val="0064A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8F620A-D371-339D-7101-FDD24CD8AB73}"/>
              </a:ext>
            </a:extLst>
          </p:cNvPr>
          <p:cNvSpPr txBox="1"/>
          <p:nvPr/>
        </p:nvSpPr>
        <p:spPr>
          <a:xfrm rot="16200000">
            <a:off x="-2573901" y="3748773"/>
            <a:ext cx="5973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2400" dirty="0">
                <a:solidFill>
                  <a:schemeClr val="bg1"/>
                </a:solidFill>
                <a:latin typeface="Impact" panose="020B0806030902050204" pitchFamily="34" charset="0"/>
              </a:rPr>
              <a:t>Results &amp; Discussion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CC7361-8571-3172-7BA0-91B7629FBFEC}"/>
              </a:ext>
            </a:extLst>
          </p:cNvPr>
          <p:cNvSpPr/>
          <p:nvPr/>
        </p:nvSpPr>
        <p:spPr>
          <a:xfrm>
            <a:off x="1028847" y="386490"/>
            <a:ext cx="5533631" cy="691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solidFill>
                  <a:srgbClr val="0064AF"/>
                </a:solidFill>
                <a:latin typeface="Arial Black" panose="020B0A040201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Results &amp; Discussion</a:t>
            </a:r>
            <a:endParaRPr lang="en-US" sz="2800" b="1" dirty="0">
              <a:solidFill>
                <a:srgbClr val="0064AF"/>
              </a:solidFill>
              <a:effectLst/>
              <a:latin typeface="Arial Black" panose="020B0A040201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2" descr="Image result for ut arlington logo">
            <a:extLst>
              <a:ext uri="{FF2B5EF4-FFF2-40B4-BE49-F238E27FC236}">
                <a16:creationId xmlns:a16="http://schemas.microsoft.com/office/drawing/2014/main" id="{7D381A0A-DB58-E0BD-FE66-75231F86F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64B1"/>
              </a:clrFrom>
              <a:clrTo>
                <a:srgbClr val="0064B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7" y="489341"/>
            <a:ext cx="456959" cy="45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B9A93F6B-BACA-39F8-3283-6BBB8EBB7DE0}"/>
              </a:ext>
            </a:extLst>
          </p:cNvPr>
          <p:cNvSpPr/>
          <p:nvPr/>
        </p:nvSpPr>
        <p:spPr>
          <a:xfrm rot="16200000">
            <a:off x="9325040" y="-1932387"/>
            <a:ext cx="116124" cy="5641248"/>
          </a:xfrm>
          <a:prstGeom prst="rect">
            <a:avLst/>
          </a:prstGeom>
          <a:solidFill>
            <a:srgbClr val="0064AF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170CE8-AC06-A583-ABB0-60A913F93C4A}"/>
              </a:ext>
            </a:extLst>
          </p:cNvPr>
          <p:cNvSpPr txBox="1"/>
          <p:nvPr/>
        </p:nvSpPr>
        <p:spPr>
          <a:xfrm>
            <a:off x="11627510" y="6472786"/>
            <a:ext cx="525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91D41-98E7-D5A5-843D-F034C5FD00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80" y="2117035"/>
            <a:ext cx="6249230" cy="3725139"/>
          </a:xfrm>
          <a:prstGeom prst="rect">
            <a:avLst/>
          </a:prstGeom>
        </p:spPr>
      </p:pic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D7A1E0CC-A3F5-0A8F-0487-81754076E931}"/>
              </a:ext>
            </a:extLst>
          </p:cNvPr>
          <p:cNvSpPr/>
          <p:nvPr/>
        </p:nvSpPr>
        <p:spPr>
          <a:xfrm>
            <a:off x="7204364" y="1253753"/>
            <a:ext cx="4728308" cy="585383"/>
          </a:xfrm>
          <a:prstGeom prst="round2SameRect">
            <a:avLst/>
          </a:prstGeom>
          <a:solidFill>
            <a:srgbClr val="002060"/>
          </a:solidFill>
          <a:ln w="28575">
            <a:solidFill>
              <a:srgbClr val="002060"/>
            </a:solidFill>
            <a:prstDash val="lg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Key Insights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6C7DE2-EF2B-D991-2635-852E5CB3C10F}"/>
              </a:ext>
            </a:extLst>
          </p:cNvPr>
          <p:cNvSpPr/>
          <p:nvPr/>
        </p:nvSpPr>
        <p:spPr>
          <a:xfrm>
            <a:off x="7204364" y="1960323"/>
            <a:ext cx="4728308" cy="163800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b="1" u="sng" dirty="0">
                <a:solidFill>
                  <a:schemeClr val="accent6">
                    <a:lumMod val="50000"/>
                  </a:schemeClr>
                </a:solidFill>
              </a:rPr>
              <a:t>Major Themes (High Support)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Sustainability </a:t>
            </a:r>
            <a:r>
              <a:rPr lang="en-US" b="1" dirty="0">
                <a:solidFill>
                  <a:schemeClr val="tx1"/>
                </a:solidFill>
              </a:rPr>
              <a:t>is the most frequently emphasized value in the literature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Adaptability, Accessibility, and Equity </a:t>
            </a:r>
            <a:r>
              <a:rPr lang="en-US" b="1" dirty="0">
                <a:solidFill>
                  <a:schemeClr val="tx1"/>
                </a:solidFill>
              </a:rPr>
              <a:t>are also strongly represented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7CBAC1-784A-7DA9-D300-32FAD4A71D66}"/>
              </a:ext>
            </a:extLst>
          </p:cNvPr>
          <p:cNvSpPr/>
          <p:nvPr/>
        </p:nvSpPr>
        <p:spPr>
          <a:xfrm>
            <a:off x="7204364" y="3658920"/>
            <a:ext cx="4728308" cy="12251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b="1" u="sng" dirty="0">
                <a:solidFill>
                  <a:schemeClr val="accent4">
                    <a:lumMod val="50000"/>
                  </a:schemeClr>
                </a:solidFill>
              </a:rPr>
              <a:t>Moderate Themes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C00000"/>
                </a:solidFill>
              </a:rPr>
              <a:t>Recoverability, Economic Continuity, and Responsiveness </a:t>
            </a:r>
            <a:r>
              <a:rPr lang="en-US" altLang="en-US" b="1" dirty="0">
                <a:solidFill>
                  <a:schemeClr val="tx1"/>
                </a:solidFill>
              </a:rPr>
              <a:t>appear in a moderate number of documents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2907739-9416-E639-E34F-6E9CF356EC4D}"/>
              </a:ext>
            </a:extLst>
          </p:cNvPr>
          <p:cNvSpPr/>
          <p:nvPr/>
        </p:nvSpPr>
        <p:spPr>
          <a:xfrm>
            <a:off x="7204364" y="5005259"/>
            <a:ext cx="4728308" cy="15489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b="1" u="sng" dirty="0">
                <a:solidFill>
                  <a:srgbClr val="C00000"/>
                </a:solidFill>
              </a:rPr>
              <a:t>Lower Support Themes</a:t>
            </a:r>
            <a:endParaRPr lang="en-US" altLang="en-US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Surprisingly, traditional </a:t>
            </a:r>
            <a:r>
              <a:rPr lang="en-US" altLang="en-US" b="1" dirty="0">
                <a:solidFill>
                  <a:srgbClr val="C00000"/>
                </a:solidFill>
              </a:rPr>
              <a:t>engineering dimensions </a:t>
            </a:r>
            <a:r>
              <a:rPr lang="en-US" altLang="en-US" b="1" dirty="0">
                <a:solidFill>
                  <a:schemeClr val="tx1"/>
                </a:solidFill>
              </a:rPr>
              <a:t>receive comparatively lower emphasis in the current literature 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F23CE05B-BC6D-2354-8B36-5FA8037AA979}"/>
              </a:ext>
            </a:extLst>
          </p:cNvPr>
          <p:cNvSpPr/>
          <p:nvPr/>
        </p:nvSpPr>
        <p:spPr>
          <a:xfrm>
            <a:off x="825294" y="1256126"/>
            <a:ext cx="5955334" cy="585383"/>
          </a:xfrm>
          <a:prstGeom prst="round2SameRect">
            <a:avLst/>
          </a:prstGeom>
          <a:solidFill>
            <a:srgbClr val="002060"/>
          </a:solidFill>
          <a:ln w="28575">
            <a:solidFill>
              <a:srgbClr val="002060"/>
            </a:solidFill>
            <a:prstDash val="lg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Discovered Stakeholder Value Categories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875492"/>
      </p:ext>
    </p:extLst>
  </p:cSld>
  <p:clrMapOvr>
    <a:masterClrMapping/>
  </p:clrMapOvr>
  <p:transition spd="slow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CEF3E-5CA5-C811-3072-B65C986EC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9CBC6D9-9958-90A3-3ED0-B014C82342CE}"/>
              </a:ext>
            </a:extLst>
          </p:cNvPr>
          <p:cNvSpPr/>
          <p:nvPr/>
        </p:nvSpPr>
        <p:spPr>
          <a:xfrm>
            <a:off x="0" y="0"/>
            <a:ext cx="530942" cy="993058"/>
          </a:xfrm>
          <a:prstGeom prst="rect">
            <a:avLst/>
          </a:prstGeom>
          <a:solidFill>
            <a:srgbClr val="004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830CA4-7ABE-A799-B973-360EFB108808}"/>
              </a:ext>
            </a:extLst>
          </p:cNvPr>
          <p:cNvSpPr/>
          <p:nvPr/>
        </p:nvSpPr>
        <p:spPr>
          <a:xfrm>
            <a:off x="0" y="1061884"/>
            <a:ext cx="530942" cy="5796116"/>
          </a:xfrm>
          <a:prstGeom prst="rect">
            <a:avLst/>
          </a:prstGeom>
          <a:solidFill>
            <a:srgbClr val="0064A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FD7E4D-2118-6813-BF44-9A0F44BA9E82}"/>
              </a:ext>
            </a:extLst>
          </p:cNvPr>
          <p:cNvSpPr txBox="1"/>
          <p:nvPr/>
        </p:nvSpPr>
        <p:spPr>
          <a:xfrm rot="16200000">
            <a:off x="-2573901" y="3748773"/>
            <a:ext cx="5973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2400" dirty="0">
                <a:solidFill>
                  <a:schemeClr val="bg1"/>
                </a:solidFill>
                <a:latin typeface="Impact" panose="020B0806030902050204" pitchFamily="34" charset="0"/>
              </a:rPr>
              <a:t>Key Takeaways &amp; Future Research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CCE197-BA3C-A7ED-D7F2-D54714C050A2}"/>
              </a:ext>
            </a:extLst>
          </p:cNvPr>
          <p:cNvSpPr/>
          <p:nvPr/>
        </p:nvSpPr>
        <p:spPr>
          <a:xfrm>
            <a:off x="1028847" y="386490"/>
            <a:ext cx="9020290" cy="691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solidFill>
                  <a:srgbClr val="0064AF"/>
                </a:solidFill>
                <a:latin typeface="Arial Black" panose="020B0A040201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Key Takeaways &amp; Future Research</a:t>
            </a:r>
          </a:p>
        </p:txBody>
      </p:sp>
      <p:pic>
        <p:nvPicPr>
          <p:cNvPr id="9" name="Picture 2" descr="Image result for ut arlington logo">
            <a:extLst>
              <a:ext uri="{FF2B5EF4-FFF2-40B4-BE49-F238E27FC236}">
                <a16:creationId xmlns:a16="http://schemas.microsoft.com/office/drawing/2014/main" id="{AF325729-C65E-8E4C-5287-6F056C856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64B1"/>
              </a:clrFrom>
              <a:clrTo>
                <a:srgbClr val="0064B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7" y="489341"/>
            <a:ext cx="456959" cy="45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FA259DDC-D0D9-B902-A6C0-26E545E1AB56}"/>
              </a:ext>
            </a:extLst>
          </p:cNvPr>
          <p:cNvSpPr/>
          <p:nvPr/>
        </p:nvSpPr>
        <p:spPr>
          <a:xfrm rot="16200000">
            <a:off x="10972450" y="-248974"/>
            <a:ext cx="152127" cy="2310423"/>
          </a:xfrm>
          <a:prstGeom prst="rect">
            <a:avLst/>
          </a:prstGeom>
          <a:solidFill>
            <a:srgbClr val="0064AF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35EBF9-9B59-4CF4-0CFC-98E1C7321D60}"/>
              </a:ext>
            </a:extLst>
          </p:cNvPr>
          <p:cNvSpPr txBox="1"/>
          <p:nvPr/>
        </p:nvSpPr>
        <p:spPr>
          <a:xfrm>
            <a:off x="11627510" y="6472786"/>
            <a:ext cx="525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rPr>
              <a:t>11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AC6B2A52-1BC4-D999-6312-6DC4DF91271D}"/>
              </a:ext>
            </a:extLst>
          </p:cNvPr>
          <p:cNvSpPr/>
          <p:nvPr/>
        </p:nvSpPr>
        <p:spPr>
          <a:xfrm>
            <a:off x="2667322" y="1440817"/>
            <a:ext cx="8415073" cy="420960"/>
          </a:xfrm>
          <a:prstGeom prst="round2SameRect">
            <a:avLst/>
          </a:prstGeom>
          <a:solidFill>
            <a:schemeClr val="tx2">
              <a:lumMod val="75000"/>
              <a:alpha val="70000"/>
            </a:schemeClr>
          </a:solidFill>
          <a:ln w="28575">
            <a:solidFill>
              <a:srgbClr val="002060">
                <a:alpha val="30000"/>
              </a:srgbClr>
            </a:solidFill>
            <a:prstDash val="lg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Key Takeaways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E12289B6-0B6F-CB57-C2CD-B3FB07640943}"/>
              </a:ext>
            </a:extLst>
          </p:cNvPr>
          <p:cNvSpPr/>
          <p:nvPr/>
        </p:nvSpPr>
        <p:spPr>
          <a:xfrm>
            <a:off x="2657906" y="4902054"/>
            <a:ext cx="8415073" cy="420960"/>
          </a:xfrm>
          <a:prstGeom prst="round2SameRect">
            <a:avLst/>
          </a:prstGeom>
          <a:solidFill>
            <a:schemeClr val="tx2">
              <a:lumMod val="75000"/>
              <a:alpha val="70000"/>
            </a:schemeClr>
          </a:solidFill>
          <a:ln w="28575">
            <a:solidFill>
              <a:srgbClr val="002060">
                <a:alpha val="30000"/>
              </a:srgbClr>
            </a:solidFill>
            <a:prstDash val="lg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Future Research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353EF9-5313-302A-1705-083C5DB54716}"/>
              </a:ext>
            </a:extLst>
          </p:cNvPr>
          <p:cNvSpPr/>
          <p:nvPr/>
        </p:nvSpPr>
        <p:spPr>
          <a:xfrm>
            <a:off x="2658161" y="1990695"/>
            <a:ext cx="8424234" cy="47382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</a:rPr>
              <a:t>Developed a </a:t>
            </a:r>
            <a:r>
              <a:rPr lang="en-US" altLang="en-US" sz="2000" b="1" dirty="0" err="1">
                <a:solidFill>
                  <a:srgbClr val="C00000"/>
                </a:solidFill>
              </a:rPr>
              <a:t>KeyBERT</a:t>
            </a:r>
            <a:r>
              <a:rPr lang="en-US" altLang="en-US" sz="2000" b="1" dirty="0">
                <a:solidFill>
                  <a:srgbClr val="C00000"/>
                </a:solidFill>
              </a:rPr>
              <a:t>-based unsupervised NLP framework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2FBD19-6118-0CD1-6728-CBB1AFC4A143}"/>
              </a:ext>
            </a:extLst>
          </p:cNvPr>
          <p:cNvSpPr/>
          <p:nvPr/>
        </p:nvSpPr>
        <p:spPr>
          <a:xfrm>
            <a:off x="2657906" y="2539313"/>
            <a:ext cx="8424489" cy="47382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</a:rPr>
              <a:t>Extracted </a:t>
            </a:r>
            <a:r>
              <a:rPr lang="en-US" altLang="en-US" sz="2000" b="1" dirty="0">
                <a:solidFill>
                  <a:srgbClr val="C00000"/>
                </a:solidFill>
              </a:rPr>
              <a:t>stakeholder-value themes </a:t>
            </a: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</a:rPr>
              <a:t>from transportation resilience literature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E3E727-5466-BDD6-2AC3-D2E9317E99B6}"/>
              </a:ext>
            </a:extLst>
          </p:cNvPr>
          <p:cNvSpPr/>
          <p:nvPr/>
        </p:nvSpPr>
        <p:spPr>
          <a:xfrm>
            <a:off x="2667322" y="3084828"/>
            <a:ext cx="8415073" cy="47382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C00000"/>
                </a:solidFill>
              </a:rPr>
              <a:t>Sustainability, Adaptability, Accessibility, and Equity </a:t>
            </a: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</a:rPr>
              <a:t>were dominant values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D8AEB5A-5CAA-4BA5-857C-10D5C018E02C}"/>
              </a:ext>
            </a:extLst>
          </p:cNvPr>
          <p:cNvSpPr/>
          <p:nvPr/>
        </p:nvSpPr>
        <p:spPr>
          <a:xfrm>
            <a:off x="2667322" y="3624075"/>
            <a:ext cx="8415073" cy="4736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</a:rPr>
              <a:t>Results were </a:t>
            </a:r>
            <a:r>
              <a:rPr lang="en-US" altLang="en-US" sz="2000" b="1" dirty="0">
                <a:solidFill>
                  <a:srgbClr val="C00000"/>
                </a:solidFill>
              </a:rPr>
              <a:t>validated through Precision@10 and robustness checks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59396E-5E25-BB3D-BDA1-3FB0B8ADFEEB}"/>
              </a:ext>
            </a:extLst>
          </p:cNvPr>
          <p:cNvSpPr/>
          <p:nvPr/>
        </p:nvSpPr>
        <p:spPr>
          <a:xfrm>
            <a:off x="2648490" y="5421828"/>
            <a:ext cx="8424489" cy="4736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Expand corpus with </a:t>
            </a:r>
            <a:r>
              <a:rPr lang="en-US" sz="2000" b="1" dirty="0">
                <a:solidFill>
                  <a:srgbClr val="C00000"/>
                </a:solidFill>
              </a:rPr>
              <a:t>agency reports and project documents</a:t>
            </a:r>
            <a:endParaRPr lang="en-US" altLang="en-US" sz="2000" b="1" dirty="0">
              <a:solidFill>
                <a:srgbClr val="C0000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D039E51-F3A4-50A4-18E8-440B1F09928A}"/>
              </a:ext>
            </a:extLst>
          </p:cNvPr>
          <p:cNvSpPr/>
          <p:nvPr/>
        </p:nvSpPr>
        <p:spPr>
          <a:xfrm>
            <a:off x="2657906" y="5990087"/>
            <a:ext cx="8424489" cy="4736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Compare with </a:t>
            </a:r>
            <a:r>
              <a:rPr lang="en-US" sz="2000" b="1" dirty="0" err="1">
                <a:solidFill>
                  <a:srgbClr val="C00000"/>
                </a:solidFill>
              </a:rPr>
              <a:t>BERTopic</a:t>
            </a:r>
            <a:r>
              <a:rPr lang="en-US" sz="2000" b="1" dirty="0">
                <a:solidFill>
                  <a:srgbClr val="C00000"/>
                </a:solidFill>
              </a:rPr>
              <a:t> / supervised transformer models</a:t>
            </a:r>
            <a:endParaRPr lang="en-US" altLang="en-US" sz="2000" b="1" dirty="0">
              <a:solidFill>
                <a:srgbClr val="C00000"/>
              </a:solidFill>
            </a:endParaRPr>
          </a:p>
        </p:txBody>
      </p:sp>
      <p:pic>
        <p:nvPicPr>
          <p:cNvPr id="4099" name="Picture 3" descr="Future Research (@Future_Research) / Posts / X">
            <a:extLst>
              <a:ext uri="{FF2B5EF4-FFF2-40B4-BE49-F238E27FC236}">
                <a16:creationId xmlns:a16="http://schemas.microsoft.com/office/drawing/2014/main" id="{97BAC41F-84FB-7839-48C4-E862C53ABF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76" r="-436" b="13357"/>
          <a:stretch>
            <a:fillRect/>
          </a:stretch>
        </p:blipFill>
        <p:spPr bwMode="auto">
          <a:xfrm>
            <a:off x="985435" y="4828587"/>
            <a:ext cx="1573547" cy="117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AutoShape 5" descr="Black Solid Icon for Conclusion, Inference and Outcome Stock Vector -  Illustration of logo, black: 245604605">
            <a:extLst>
              <a:ext uri="{FF2B5EF4-FFF2-40B4-BE49-F238E27FC236}">
                <a16:creationId xmlns:a16="http://schemas.microsoft.com/office/drawing/2014/main" id="{A8996563-487D-C15C-F67C-6CEFF5976A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5499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3" name="Picture 7" descr="Black Solid Icon for Conclusion, Inference and Outcome Stock Vector -  Illustration of logo, black: 245604605">
            <a:extLst>
              <a:ext uri="{FF2B5EF4-FFF2-40B4-BE49-F238E27FC236}">
                <a16:creationId xmlns:a16="http://schemas.microsoft.com/office/drawing/2014/main" id="{294157BB-016C-A9AD-CDFA-17D1BA0FB3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8" t="13698" r="13698" b="13698"/>
          <a:stretch>
            <a:fillRect/>
          </a:stretch>
        </p:blipFill>
        <p:spPr bwMode="auto">
          <a:xfrm>
            <a:off x="1109605" y="1440594"/>
            <a:ext cx="1325208" cy="132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2485262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Image result for any new business"/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7" b="7317"/>
          <a:stretch/>
        </p:blipFill>
        <p:spPr bwMode="auto">
          <a:xfrm>
            <a:off x="0" y="-673767"/>
            <a:ext cx="12192000" cy="754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990123" y="499220"/>
            <a:ext cx="6263253" cy="32157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5400" b="1" dirty="0">
                <a:ln w="1270"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 Black" panose="020B0A040201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QUESTIONS 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5400" b="1" dirty="0">
                <a:ln w="1270"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 Black" panose="020B0A040201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or 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5400" b="1" dirty="0">
                <a:ln w="1270"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 Black" panose="020B0A040201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SUGGESTIONS?</a:t>
            </a:r>
          </a:p>
        </p:txBody>
      </p:sp>
    </p:spTree>
    <p:extLst>
      <p:ext uri="{BB962C8B-B14F-4D97-AF65-F5344CB8AC3E}">
        <p14:creationId xmlns:p14="http://schemas.microsoft.com/office/powerpoint/2010/main" val="3884601210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34798</TotalTime>
  <Words>646</Words>
  <Application>Microsoft Office PowerPoint</Application>
  <PresentationFormat>Widescreen</PresentationFormat>
  <Paragraphs>254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Kyeong Rok Ryu</dc:creator>
  <cp:lastModifiedBy>Ryu, Kyeong Rok</cp:lastModifiedBy>
  <cp:revision>1053</cp:revision>
  <cp:lastPrinted>2025-11-24T12:35:29Z</cp:lastPrinted>
  <dcterms:created xsi:type="dcterms:W3CDTF">2017-09-18T14:53:00Z</dcterms:created>
  <dcterms:modified xsi:type="dcterms:W3CDTF">2026-04-27T13:40:18Z</dcterms:modified>
</cp:coreProperties>
</file>